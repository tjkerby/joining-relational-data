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1a0fd57e1d4133" /><Relationship Type="http://schemas.openxmlformats.org/officeDocument/2006/relationships/extended-properties" Target="/docProps/app.xml" Id="Rdaab2da29ca64c5f" /><Relationship Type="http://schemas.openxmlformats.org/officeDocument/2006/relationships/officeDocument" Target="/ppt/presentation.xml" Id="R1377005f31fd41e2" /></Relationships>
</file>

<file path=ppt/presentation.xml><?xml version="1.0" encoding="utf-8"?>
<p:presentation xmlns:p="http://schemas.openxmlformats.org/presentationml/2006/main">
  <p:sldMasterIdLst>
    <p:sldMasterId xmlns:r="http://schemas.openxmlformats.org/officeDocument/2006/relationships" id="2147483648" r:id="R98d31f3481a34d7f"/>
  </p:sldMasterIdLst>
  <p:notesMasterIdLst>
    <p:notesMasterId xmlns:r="http://schemas.openxmlformats.org/officeDocument/2006/relationships" r:id="R9f15e2bbe73e4869"/>
  </p:notesMasterIdLst>
  <p:sldIdLst>
    <p:sldId xmlns:r="http://schemas.openxmlformats.org/officeDocument/2006/relationships" id="256" r:id="Rc4b1b5a860724a75"/>
    <p:sldId xmlns:r="http://schemas.openxmlformats.org/officeDocument/2006/relationships" id="257" r:id="Rcc1a0a6f09494fc0"/>
    <p:sldId xmlns:r="http://schemas.openxmlformats.org/officeDocument/2006/relationships" id="258" r:id="R5d0669b95f964686"/>
    <p:sldId xmlns:r="http://schemas.openxmlformats.org/officeDocument/2006/relationships" id="259" r:id="Rda78b58a21e44510"/>
    <p:sldId xmlns:r="http://schemas.openxmlformats.org/officeDocument/2006/relationships" id="260" r:id="Rb32fc4ce715f4a85"/>
    <p:sldId xmlns:r="http://schemas.openxmlformats.org/officeDocument/2006/relationships" id="261" r:id="Rc0ea9b3f4cad4bca"/>
    <p:sldId xmlns:r="http://schemas.openxmlformats.org/officeDocument/2006/relationships" id="262" r:id="R9eeba59769364293"/>
    <p:sldId xmlns:r="http://schemas.openxmlformats.org/officeDocument/2006/relationships" id="263" r:id="R43bf0c09d8af4508"/>
    <p:sldId xmlns:r="http://schemas.openxmlformats.org/officeDocument/2006/relationships" id="264" r:id="R804b21fc4dbf4459"/>
    <p:sldId xmlns:r="http://schemas.openxmlformats.org/officeDocument/2006/relationships" id="265" r:id="R118fb53fd5374ee0"/>
    <p:sldId xmlns:r="http://schemas.openxmlformats.org/officeDocument/2006/relationships" id="266" r:id="R16e7e4eadff84745"/>
    <p:sldId xmlns:r="http://schemas.openxmlformats.org/officeDocument/2006/relationships" id="267" r:id="Rcf62a0c7dccb46ef"/>
    <p:sldId xmlns:r="http://schemas.openxmlformats.org/officeDocument/2006/relationships" id="268" r:id="R94c9f001a5374639"/>
    <p:sldId xmlns:r="http://schemas.openxmlformats.org/officeDocument/2006/relationships" id="269" r:id="R6b5fb735162f414e"/>
    <p:sldId xmlns:r="http://schemas.openxmlformats.org/officeDocument/2006/relationships" id="270" r:id="R7c261bff43094a93"/>
    <p:sldId xmlns:r="http://schemas.openxmlformats.org/officeDocument/2006/relationships" id="271" r:id="R9544e5ed60d444ac"/>
    <p:sldId xmlns:r="http://schemas.openxmlformats.org/officeDocument/2006/relationships" id="272" r:id="R2b580cc2a4c44365"/>
    <p:sldId xmlns:r="http://schemas.openxmlformats.org/officeDocument/2006/relationships" id="273" r:id="R5776042e53344a23"/>
    <p:sldId xmlns:r="http://schemas.openxmlformats.org/officeDocument/2006/relationships" id="274" r:id="R8ccf5feb41d64fda"/>
    <p:sldId xmlns:r="http://schemas.openxmlformats.org/officeDocument/2006/relationships" id="275" r:id="R00a5115c79034fcf"/>
    <p:sldId xmlns:r="http://schemas.openxmlformats.org/officeDocument/2006/relationships" id="276" r:id="R8d4da71e9b214806"/>
    <p:sldId xmlns:r="http://schemas.openxmlformats.org/officeDocument/2006/relationships" id="277" r:id="Rc2c03600aa174fcc"/>
    <p:sldId xmlns:r="http://schemas.openxmlformats.org/officeDocument/2006/relationships" id="278" r:id="Rbf4a327c835d4ccf"/>
    <p:sldId xmlns:r="http://schemas.openxmlformats.org/officeDocument/2006/relationships" id="279" r:id="Reb7ce44b4c1d4a20"/>
    <p:sldId xmlns:r="http://schemas.openxmlformats.org/officeDocument/2006/relationships" id="280" r:id="R0aabab65b21e402c"/>
    <p:sldId xmlns:r="http://schemas.openxmlformats.org/officeDocument/2006/relationships" id="281" r:id="R197b3dbb585f4693"/>
    <p:sldId xmlns:r="http://schemas.openxmlformats.org/officeDocument/2006/relationships" id="282" r:id="R5cbce2455a874367"/>
    <p:sldId xmlns:r="http://schemas.openxmlformats.org/officeDocument/2006/relationships" id="283" r:id="R4e64af18d8ef4566"/>
    <p:sldId xmlns:r="http://schemas.openxmlformats.org/officeDocument/2006/relationships" id="284" r:id="Reb74a4a0965149fa"/>
    <p:sldId xmlns:r="http://schemas.openxmlformats.org/officeDocument/2006/relationships" id="285" r:id="R3111f3513f2c4044"/>
    <p:sldId xmlns:r="http://schemas.openxmlformats.org/officeDocument/2006/relationships" id="286" r:id="R9796eec845b94241"/>
    <p:sldId xmlns:r="http://schemas.openxmlformats.org/officeDocument/2006/relationships" id="287" r:id="Rc74adbaa37fa4da3"/>
    <p:sldId xmlns:r="http://schemas.openxmlformats.org/officeDocument/2006/relationships" id="288" r:id="R53b5037d10664413"/>
    <p:sldId xmlns:r="http://schemas.openxmlformats.org/officeDocument/2006/relationships" id="289" r:id="Rc1468499eb6a47ed"/>
    <p:sldId xmlns:r="http://schemas.openxmlformats.org/officeDocument/2006/relationships" id="290" r:id="R96e317b866c740e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f342404fb7445e" /><Relationship Type="http://schemas.openxmlformats.org/officeDocument/2006/relationships/slideMaster" Target="/ppt/slideMasters/slideMaster1.xml" Id="R98d31f3481a34d7f" /><Relationship Type="http://schemas.openxmlformats.org/officeDocument/2006/relationships/notesMaster" Target="/ppt/notesMasters/notesMaster1.xml" Id="R9f15e2bbe73e4869" /><Relationship Type="http://schemas.openxmlformats.org/officeDocument/2006/relationships/presProps" Target="/ppt/presProps.xml" Id="Reb239cada7a0403d" /><Relationship Type="http://schemas.openxmlformats.org/officeDocument/2006/relationships/tableStyles" Target="/ppt/tableStyles.xml" Id="R2d2d4ec9a94540ec" /><Relationship Type="http://schemas.openxmlformats.org/officeDocument/2006/relationships/slide" Target="/ppt/slides/slide1.xml" Id="Rc4b1b5a860724a75" /><Relationship Type="http://schemas.openxmlformats.org/officeDocument/2006/relationships/slide" Target="/ppt/slides/slide2.xml" Id="Rcc1a0a6f09494fc0" /><Relationship Type="http://schemas.openxmlformats.org/officeDocument/2006/relationships/slide" Target="/ppt/slides/slide3.xml" Id="R5d0669b95f964686" /><Relationship Type="http://schemas.openxmlformats.org/officeDocument/2006/relationships/slide" Target="/ppt/slides/slide4.xml" Id="Rda78b58a21e44510" /><Relationship Type="http://schemas.openxmlformats.org/officeDocument/2006/relationships/slide" Target="/ppt/slides/slide5.xml" Id="Rb32fc4ce715f4a85" /><Relationship Type="http://schemas.openxmlformats.org/officeDocument/2006/relationships/slide" Target="/ppt/slides/slide6.xml" Id="Rc0ea9b3f4cad4bca" /><Relationship Type="http://schemas.openxmlformats.org/officeDocument/2006/relationships/slide" Target="/ppt/slides/slide7.xml" Id="R9eeba59769364293" /><Relationship Type="http://schemas.openxmlformats.org/officeDocument/2006/relationships/slide" Target="/ppt/slides/slide8.xml" Id="R43bf0c09d8af4508" /><Relationship Type="http://schemas.openxmlformats.org/officeDocument/2006/relationships/slide" Target="/ppt/slides/slide9.xml" Id="R804b21fc4dbf4459" /><Relationship Type="http://schemas.openxmlformats.org/officeDocument/2006/relationships/slide" Target="/ppt/slides/slide10.xml" Id="R118fb53fd5374ee0" /><Relationship Type="http://schemas.openxmlformats.org/officeDocument/2006/relationships/slide" Target="/ppt/slides/slide11.xml" Id="R16e7e4eadff84745" /><Relationship Type="http://schemas.openxmlformats.org/officeDocument/2006/relationships/slide" Target="/ppt/slides/slide12.xml" Id="Rcf62a0c7dccb46ef" /><Relationship Type="http://schemas.openxmlformats.org/officeDocument/2006/relationships/slide" Target="/ppt/slides/slide13.xml" Id="R94c9f001a5374639" /><Relationship Type="http://schemas.openxmlformats.org/officeDocument/2006/relationships/slide" Target="/ppt/slides/slide14.xml" Id="R6b5fb735162f414e" /><Relationship Type="http://schemas.openxmlformats.org/officeDocument/2006/relationships/slide" Target="/ppt/slides/slide15.xml" Id="R7c261bff43094a93" /><Relationship Type="http://schemas.openxmlformats.org/officeDocument/2006/relationships/slide" Target="/ppt/slides/slide16.xml" Id="R9544e5ed60d444ac" /><Relationship Type="http://schemas.openxmlformats.org/officeDocument/2006/relationships/slide" Target="/ppt/slides/slide17.xml" Id="R2b580cc2a4c44365" /><Relationship Type="http://schemas.openxmlformats.org/officeDocument/2006/relationships/slide" Target="/ppt/slides/slide18.xml" Id="R5776042e53344a23" /><Relationship Type="http://schemas.openxmlformats.org/officeDocument/2006/relationships/slide" Target="/ppt/slides/slide19.xml" Id="R8ccf5feb41d64fda" /><Relationship Type="http://schemas.openxmlformats.org/officeDocument/2006/relationships/slide" Target="/ppt/slides/slide20.xml" Id="R00a5115c79034fcf" /><Relationship Type="http://schemas.openxmlformats.org/officeDocument/2006/relationships/slide" Target="/ppt/slides/slide21.xml" Id="R8d4da71e9b214806" /><Relationship Type="http://schemas.openxmlformats.org/officeDocument/2006/relationships/slide" Target="/ppt/slides/slide22.xml" Id="Rc2c03600aa174fcc" /><Relationship Type="http://schemas.openxmlformats.org/officeDocument/2006/relationships/slide" Target="/ppt/slides/slide23.xml" Id="Rbf4a327c835d4ccf" /><Relationship Type="http://schemas.openxmlformats.org/officeDocument/2006/relationships/slide" Target="/ppt/slides/slide24.xml" Id="Reb7ce44b4c1d4a20" /><Relationship Type="http://schemas.openxmlformats.org/officeDocument/2006/relationships/slide" Target="/ppt/slides/slide25.xml" Id="R0aabab65b21e402c" /><Relationship Type="http://schemas.openxmlformats.org/officeDocument/2006/relationships/slide" Target="/ppt/slides/slide26.xml" Id="R197b3dbb585f4693" /><Relationship Type="http://schemas.openxmlformats.org/officeDocument/2006/relationships/slide" Target="/ppt/slides/slide27.xml" Id="R5cbce2455a874367" /><Relationship Type="http://schemas.openxmlformats.org/officeDocument/2006/relationships/slide" Target="/ppt/slides/slide28.xml" Id="R4e64af18d8ef4566" /><Relationship Type="http://schemas.openxmlformats.org/officeDocument/2006/relationships/slide" Target="/ppt/slides/slide29.xml" Id="Reb74a4a0965149fa" /><Relationship Type="http://schemas.openxmlformats.org/officeDocument/2006/relationships/slide" Target="/ppt/slides/slide30.xml" Id="R3111f3513f2c4044" /><Relationship Type="http://schemas.openxmlformats.org/officeDocument/2006/relationships/slide" Target="/ppt/slides/slide31.xml" Id="R9796eec845b94241" /><Relationship Type="http://schemas.openxmlformats.org/officeDocument/2006/relationships/slide" Target="/ppt/slides/slide32.xml" Id="Rc74adbaa37fa4da3" /><Relationship Type="http://schemas.openxmlformats.org/officeDocument/2006/relationships/slide" Target="/ppt/slides/slide33.xml" Id="R53b5037d10664413" /><Relationship Type="http://schemas.openxmlformats.org/officeDocument/2006/relationships/slide" Target="/ppt/slides/slide34.xml" Id="Rc1468499eb6a47ed" /><Relationship Type="http://schemas.openxmlformats.org/officeDocument/2006/relationships/slide" Target="/ppt/slides/slide35.xml" Id="R96e317b866c740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73ee1f38dc45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103ad057424941" /><Relationship Type="http://schemas.openxmlformats.org/officeDocument/2006/relationships/notesMaster" Target="/ppt/notesMasters/notesMaster1.xml" Id="R75e4e1b445c24f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f35214c03524fff" /><Relationship Type="http://schemas.openxmlformats.org/officeDocument/2006/relationships/notesMaster" Target="/ppt/notesMasters/notesMaster1.xml" Id="R4bf1c32d101a41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78095ff9d472e" /><Relationship Type="http://schemas.openxmlformats.org/officeDocument/2006/relationships/notesMaster" Target="/ppt/notesMasters/notesMaster1.xml" Id="R1e152f452aee40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a90395e5ea4bc0" /><Relationship Type="http://schemas.openxmlformats.org/officeDocument/2006/relationships/notesMaster" Target="/ppt/notesMasters/notesMaster1.xml" Id="R0272b36e778846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5720f243ba402f" /><Relationship Type="http://schemas.openxmlformats.org/officeDocument/2006/relationships/notesMaster" Target="/ppt/notesMasters/notesMaster1.xml" Id="Rb64097c764ca41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e18b90f40a444f" /><Relationship Type="http://schemas.openxmlformats.org/officeDocument/2006/relationships/notesMaster" Target="/ppt/notesMasters/notesMaster1.xml" Id="R9cc973bbc09246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b4903aa74d4383" /><Relationship Type="http://schemas.openxmlformats.org/officeDocument/2006/relationships/notesMaster" Target="/ppt/notesMasters/notesMaster1.xml" Id="R1cafc163cd0647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207e49c7ee46df" /><Relationship Type="http://schemas.openxmlformats.org/officeDocument/2006/relationships/notesMaster" Target="/ppt/notesMasters/notesMaster1.xml" Id="R3496000f7b464f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863ac0143943ab" /><Relationship Type="http://schemas.openxmlformats.org/officeDocument/2006/relationships/notesMaster" Target="/ppt/notesMasters/notesMaster1.xml" Id="R34a575e4447843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8870785b674b18" /><Relationship Type="http://schemas.openxmlformats.org/officeDocument/2006/relationships/notesMaster" Target="/ppt/notesMasters/notesMaster1.xml" Id="R58abdbab593f40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f9835f19c345a8" /><Relationship Type="http://schemas.openxmlformats.org/officeDocument/2006/relationships/notesMaster" Target="/ppt/notesMasters/notesMaster1.xml" Id="Rfc5e77a3bbdd40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5500a9450347ce" /><Relationship Type="http://schemas.openxmlformats.org/officeDocument/2006/relationships/notesMaster" Target="/ppt/notesMasters/notesMaster1.xml" Id="R6535a53641194f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2f931d1f554013" /><Relationship Type="http://schemas.openxmlformats.org/officeDocument/2006/relationships/notesMaster" Target="/ppt/notesMasters/notesMaster1.xml" Id="Rd155111715f64e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ba2502bcac43fe" /><Relationship Type="http://schemas.openxmlformats.org/officeDocument/2006/relationships/notesMaster" Target="/ppt/notesMasters/notesMaster1.xml" Id="R7a15115acc8f45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121bb8958e4d4f" /><Relationship Type="http://schemas.openxmlformats.org/officeDocument/2006/relationships/notesMaster" Target="/ppt/notesMasters/notesMaster1.xml" Id="R0ed9b887a53847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a0791840cc4f8f" /><Relationship Type="http://schemas.openxmlformats.org/officeDocument/2006/relationships/notesMaster" Target="/ppt/notesMasters/notesMaster1.xml" Id="R5feef6c345f949d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2af486397d4a21" /><Relationship Type="http://schemas.openxmlformats.org/officeDocument/2006/relationships/notesMaster" Target="/ppt/notesMasters/notesMaster1.xml" Id="R55d00b58a9e944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6cd11c1df4f47b9" /><Relationship Type="http://schemas.openxmlformats.org/officeDocument/2006/relationships/notesMaster" Target="/ppt/notesMasters/notesMaster1.xml" Id="Rb23ac0e2ee6747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972d650bfbc4f6c" /><Relationship Type="http://schemas.openxmlformats.org/officeDocument/2006/relationships/notesMaster" Target="/ppt/notesMasters/notesMaster1.xml" Id="Re83d6ba6be3240c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e6f1e0c1b44eaf" /><Relationship Type="http://schemas.openxmlformats.org/officeDocument/2006/relationships/notesMaster" Target="/ppt/notesMasters/notesMaster1.xml" Id="Reb8d6377a97443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e10eb257096457d" /><Relationship Type="http://schemas.openxmlformats.org/officeDocument/2006/relationships/notesMaster" Target="/ppt/notesMasters/notesMaster1.xml" Id="Rb20789718da645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6d2feeb6ba4c7d" /><Relationship Type="http://schemas.openxmlformats.org/officeDocument/2006/relationships/notesMaster" Target="/ppt/notesMasters/notesMaster1.xml" Id="R9edfe3b017134ca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32800b2338749b4" /><Relationship Type="http://schemas.openxmlformats.org/officeDocument/2006/relationships/notesMaster" Target="/ppt/notesMasters/notesMaster1.xml" Id="R27f595b95da34c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e1b67261c1427b" /><Relationship Type="http://schemas.openxmlformats.org/officeDocument/2006/relationships/notesMaster" Target="/ppt/notesMasters/notesMaster1.xml" Id="R398b49b893c5401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b81720fd9347c8" /><Relationship Type="http://schemas.openxmlformats.org/officeDocument/2006/relationships/notesMaster" Target="/ppt/notesMasters/notesMaster1.xml" Id="R3e31ddbcb24d4f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09fde84b9e647bd" /><Relationship Type="http://schemas.openxmlformats.org/officeDocument/2006/relationships/notesMaster" Target="/ppt/notesMasters/notesMaster1.xml" Id="R98d206aef5be44d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cb0ab06a064d96" /><Relationship Type="http://schemas.openxmlformats.org/officeDocument/2006/relationships/notesMaster" Target="/ppt/notesMasters/notesMaster1.xml" Id="R5a4ce7711fa1499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01dc3366ad4cf7" /><Relationship Type="http://schemas.openxmlformats.org/officeDocument/2006/relationships/notesMaster" Target="/ppt/notesMasters/notesMaster1.xml" Id="R70b5c8342c8a488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4e46cf951d4b72" /><Relationship Type="http://schemas.openxmlformats.org/officeDocument/2006/relationships/notesMaster" Target="/ppt/notesMasters/notesMaster1.xml" Id="Ra3cb1ae8577441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4fc33b92d46407b" /><Relationship Type="http://schemas.openxmlformats.org/officeDocument/2006/relationships/notesMaster" Target="/ppt/notesMasters/notesMaster1.xml" Id="Rec4db876ab0b4cb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13b4ac65a44b6e" /><Relationship Type="http://schemas.openxmlformats.org/officeDocument/2006/relationships/notesMaster" Target="/ppt/notesMasters/notesMaster1.xml" Id="R74f5dd29a2fe40f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acfcc0ce38c415d" /><Relationship Type="http://schemas.openxmlformats.org/officeDocument/2006/relationships/notesMaster" Target="/ppt/notesMasters/notesMaster1.xml" Id="R2687eaac013f4cf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5c1bf6343f74fa1" /><Relationship Type="http://schemas.openxmlformats.org/officeDocument/2006/relationships/notesMaster" Target="/ppt/notesMasters/notesMaster1.xml" Id="R008825ab2a7846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2f2a8c7e50d4775" /><Relationship Type="http://schemas.openxmlformats.org/officeDocument/2006/relationships/notesMaster" Target="/ppt/notesMasters/notesMaster1.xml" Id="R768fc30033de441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6aebcec812b4a47" /><Relationship Type="http://schemas.openxmlformats.org/officeDocument/2006/relationships/notesMaster" Target="/ppt/notesMasters/notesMaster1.xml" Id="R65c44ea4eb804c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connects row identity from reshaping to keys and joins. Use slides for the worked examples. Switch to coding only for the pair activity. All conference data in this lesson are fictional teaching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45 seconds. Retrieve the prior lesson rather than reteach it. The row unit is a talk-keyword combination. talk_id alone repeats. Ask them to name the pair before revealing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pivot uses the identifying pair to locate a value. Today a join uses keys to locate related records in another table. Do not spend time rerunning pivot.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which table contains the measurements and which contains the grouping variable. The speaker table includes S4 without a talk. Talks include S3 without a speaker record. Do not reveal those consequences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how many copies of Avery’s details appear. A prepared CSV is a useful analysis product. Repeated authoritative records create maintenance problems. All values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Distinguish maintaining data from preparing an analysis table. Separate tables reduce redundancy, allow independent additions, and support integrity constraints in databases. Avoid normalization jargon. Changing historical characteristics may need dated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primary key must be unique and nonmissing. Foreign-key references should have a parent record in well-formed relational data, but imported files may violate that expectation. The unmatched S3 is a coverage problem to investigate. Year plus season identifies our fictional conferences, not an individual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Always state the left and right direction. One-to-many may be perfectly legitimate when we want one speaker-talk row. Many-to-many can also be legitimate, but all matching pairs affect the row meaning. Explain it further after the pair-multiplication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before join code. Circles are distinct speaker IDs in each table. S1/S2 overlap, S3 is only in talks, S4 only in speakers. Ask which region retains every talk key. The diagrams explain retention. Matching pairs explain output row counts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45 seconds before revealing. Expected five rows because the right key is unique. T5 lacks metadata. S4 does not appear. Repeated left keys are expected and do not alone increase the row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Talks is the left argument. how controls retention, on supplies equality keys. Matching uses key values regardless of row position. NA is our display label for a pandas missing value. A left join retains every left row, but can repeat it if several right records match.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30 seconds. Students should identify T5 and predict four rows. Connect the retained population to known speaker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inner join changes coverage. Losing a record can be intentional, but must match the analysis question. Default merge how is inner, so specify how explicitly.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_merge is a new categorical column, not an index or command. The projection shows every row.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Differentiate category definitions from actual values. value_counts may show right_only with zero because the category exists. The labels describe key matching, not completeness of every metadata field.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three stages: select a column, compare element by element, use the Boolean Series to filter. Predict the five mask values before running. Show the full mask and filtered row. Reference: https://pandas.pydata.org/docs/reference/api/pandas.Series.eq.html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groupby excludes missing grouping values. Keep the unknown group visible rather than silently excluding T5. Ask why group A has three talks but one speaker. Summaries of talks and summaries of speakers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45 seconds. S1 contributes six pairs. Full join has eight rows: six for S1, one for S2, one unmatched S3. Both right rows match even though group differs.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T1 twice, then T2 twice. The output unit is now a talk-speaker-record pair. The database has no basis for picking A over B. A left join promises retention, not unchanged row count.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 contributions across left keys for total left-join size. Formulas apply to these equality joins with complete keys. Appendix notes that pandas can match missing keys. The frequency rule explains the result rather than treating duplication as random behavior.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 15-minute activity here. Students open the starter in the shared repo. Ask them to attempt the activity before opening the solutions. Encourage a quick written prediction before code. Hint for unknown groups is dropna=False. Pairs can inspect objects in Positron.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fictional exercise record_status=current means the authoritative record for our analysis and retired means superseded. Students should inspect before filtering. If students need help, point them to duplicated("speaker_id", keep=False). Do not suggest blind drop_duplicates on speaker_id.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has six talks with mean 1500.0, B five with mean 1960.0, unknown one with mean 2100.0. Speaker S5 has no talks and never enters this left join. Ask how an inner join would change coverage: eleven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 count is 8 for S1 plus 8 for every other talk. Duplicate rows are matching pairs, not an implementation error. record_status exists on the lookup table and must inform selection before joining.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talks and speakers_conflicting refer to the activity objects. Error wording is simplified for readability. One_to_one checks both sides, one_to_many checks the left, many_to_one checks the right. many_to_many permits repetition and performs no uniqueness check.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repair applies only because the exercise defines current as authoritative for this analysis. In real longitudinal data, an old record may be the right one for an earlier talk. A date-aware matching rule could then be necessary. Never claim keeping first or latest is universally correct.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 across all rows here, including unmatched T5. The three S1 talks sum to 3600, which the flawed join counts twice. Group classification also changes because the added row has group B. Ask how the table would affect a claim about mean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30 seconds. Year repeats twice in the metadata table. Joining year alone creates two matches per talk, doubles the full activity table to 24 rows, and assigns two possible locations.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twelve output rows appear for the selected columns. year and season identify a conference, not a session. activity_talks avoids overwriting the five-row example.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routine is conceptual, not a claim that these three expressions check all data. Composite key uniqueness uses duplicated(["year", "season"]). Check key types and formatting when valid-looking records do not match. Missing keys require explicit attention because pandas may match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about one minute for a written response. The course catalog analogy checks transfer beyond the conference example. Reveal the next slide after responses. Bridge from joining-generated missingness to missingness theory without claiming that all missing values have the same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slide. The code is a transfer example, not an executed conference-data cell. many_to_one will reject a nonunique right key before producing the duplicated result. Student uniqueness may require student_id plus course_id plus term or a dedicated enrollment_id.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after the main lecture. The runnable demo illustrates different key names. Overlapping fields need interpretation before deciding which to keep. No live walkthrough unless a question requires it.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Unlike typical SQL NULL equality behavior, pandas matches missing keys to missing keys. A primary key should be nonmissing. The missingness belongs to the key in this example, not simply to a metadata value. Reference: https://pandas.pydata.org/docs/reference/api/pandas.merge.html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 axis=1 concatenation aligns indexes, which differs from matching speaker IDs. Avoid teaching concat as an alternate key join. Reference: https://pandas.pydata.org/docs/user_guide/merging.html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0fe6badcdb40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bd983dceaf42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4a6d5e654a44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8cc86c1d664a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3ad1e8f0a845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d2c0fefe3e4b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D1DA4B3-5ACA-4EDF-981A-8D5FB906DDD8}"/>
              </a:ext>
            </a:extLst>
          </p:cNvPr>
          <p:cNvSpPr>
            <a:spLocks xmlns:a="http://schemas.openxmlformats.org/drawingml/2006/main" noGrp="1"/>
          </p:cNvSpPr>
          <p:nvPr/>
        </p:nvSpPr>
        <p:spPr>
          <a:xfrm xmlns:a="http://schemas.openxmlformats.org/drawingml/2006/main">
            <a:off x="7239000" y="276225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09A1C56-908E-444C-B912-BA5FD0BDB893}"/>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A5917D1-76C1-4D61-BF84-CB963CE9832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A006507-7484-488E-B1CF-DB0B89703D75}"/>
              </a:ext>
            </a:extLst>
          </p:cNvPr>
          <p:cNvSpPr>
            <a:spLocks xmlns:a="http://schemas.openxmlformats.org/drawingml/2006/main" noGrp="1"/>
          </p:cNvSpPr>
          <p:nvPr/>
        </p:nvSpPr>
        <p:spPr>
          <a:xfrm xmlns:a="http://schemas.openxmlformats.org/drawingml/2006/main">
            <a:off x="7239000" y="3095625"/>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9D1DAE0E-1F9C-470A-9E15-9887F37B00AE}"/>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711567D-DF04-4118-9194-A4F93EDEBBD7}"/>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ED01BDC-A69E-4C25-93C1-50F2592C98E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A34F9DE-6250-45A4-A682-A9285EE324F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CCA5AAF-A49F-4331-ACD6-1713E9B6C515}"/>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D0BFF13-2D90-4FD7-928D-3B368F6B61F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55B31CD-3E5E-47E8-B5D3-A04009DCD4B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0A4D3C0-2A62-4683-84E9-C6E46F4B245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0D342EB-9707-4F32-ACFF-E37B5F96861A}"/>
              </a:ext>
            </a:extLst>
          </p:cNvPr>
          <p:cNvSpPr>
            <a:spLocks xmlns:a="http://schemas.openxmlformats.org/drawingml/2006/main" noGrp="1"/>
          </p:cNvSpPr>
          <p:nvPr/>
        </p:nvSpPr>
        <p:spPr>
          <a:xfrm xmlns:a="http://schemas.openxmlformats.org/drawingml/2006/main">
            <a:off x="857250" y="1905000"/>
            <a:ext cx="762000" cy="47625"/>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FF2B0E-1FED-4F5C-B872-B1043BEBE10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E2FF493-39C8-4F0F-9813-85F89092666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a7a521a1e14f96" /><Relationship Type="http://schemas.openxmlformats.org/officeDocument/2006/relationships/slideLayout" Target="/ppt/slideLayouts/slideLayout1.xml" Id="Rc7f0ea9087bc451a" /><Relationship Type="http://schemas.openxmlformats.org/officeDocument/2006/relationships/slideLayout" Target="/ppt/slideLayouts/slideLayout2.xml" Id="Rca35089773a34abc" /><Relationship Type="http://schemas.openxmlformats.org/officeDocument/2006/relationships/slideLayout" Target="/ppt/slideLayouts/slideLayout3.xml" Id="Rca9b96004404464a" /><Relationship Type="http://schemas.openxmlformats.org/officeDocument/2006/relationships/slideLayout" Target="/ppt/slideLayouts/slideLayout4.xml" Id="R6755c58c78a541a9" /><Relationship Type="http://schemas.openxmlformats.org/officeDocument/2006/relationships/slideLayout" Target="/ppt/slideLayouts/slideLayout5.xml" Id="R70f8f7c0f2be4141" /><Relationship Type="http://schemas.openxmlformats.org/officeDocument/2006/relationships/slideLayout" Target="/ppt/slideLayouts/slideLayout6.xml" Id="R281d4b8b74104c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f0ea9087bc451a"/>
    <p:sldLayoutId xmlns:r="http://schemas.openxmlformats.org/officeDocument/2006/relationships" id="2147483650" r:id="Rca35089773a34abc"/>
    <p:sldLayoutId xmlns:r="http://schemas.openxmlformats.org/officeDocument/2006/relationships" id="2147483651" r:id="Rca9b96004404464a"/>
    <p:sldLayoutId xmlns:r="http://schemas.openxmlformats.org/officeDocument/2006/relationships" id="2147483652" r:id="R6755c58c78a541a9"/>
    <p:sldLayoutId xmlns:r="http://schemas.openxmlformats.org/officeDocument/2006/relationships" id="2147483653" r:id="R70f8f7c0f2be4141"/>
    <p:sldLayoutId xmlns:r="http://schemas.openxmlformats.org/officeDocument/2006/relationships" id="2147483654" r:id="R281d4b8b74104c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c2018efe544972" /><Relationship Type="http://schemas.openxmlformats.org/officeDocument/2006/relationships/notesSlide" Target="/ppt/notesSlides/notesSlide1.xml" Id="Rf2041d642d3c43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638b82f7b5a4572" /><Relationship Type="http://schemas.openxmlformats.org/officeDocument/2006/relationships/notesSlide" Target="/ppt/notesSlides/notesSlide2.xml" Id="Rc368430f71ff40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ea0ddda46a4b72" /><Relationship Type="http://schemas.openxmlformats.org/officeDocument/2006/relationships/notesSlide" Target="/ppt/notesSlides/notesSlide3.xml" Id="Rd0f8f4196df244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02cf1367c447c0" /><Relationship Type="http://schemas.openxmlformats.org/officeDocument/2006/relationships/notesSlide" Target="/ppt/notesSlides/notesSlide4.xml" Id="Rcac6d007e9fc4b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ae6fa429fc14b2b" /><Relationship Type="http://schemas.openxmlformats.org/officeDocument/2006/relationships/notesSlide" Target="/ppt/notesSlides/notesSlide5.xml" Id="R4e96884687d742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d1dcf1fc03418d" /><Relationship Type="http://schemas.openxmlformats.org/officeDocument/2006/relationships/notesSlide" Target="/ppt/notesSlides/notesSlide6.xml" Id="Rd3d2fe84457f4c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8bb5e01b794c56" /><Relationship Type="http://schemas.openxmlformats.org/officeDocument/2006/relationships/notesSlide" Target="/ppt/notesSlides/notesSlide7.xml" Id="R7389c004201747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583d5f238fd4b23" /><Relationship Type="http://schemas.openxmlformats.org/officeDocument/2006/relationships/notesSlide" Target="/ppt/notesSlides/notesSlide8.xml" Id="R07b6723321184f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81917b4dbb8460c" /><Relationship Type="http://schemas.openxmlformats.org/officeDocument/2006/relationships/notesSlide" Target="/ppt/notesSlides/notesSlide9.xml" Id="R63e0d5d3b26b41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d355c0a98d42a1" /><Relationship Type="http://schemas.openxmlformats.org/officeDocument/2006/relationships/notesSlide" Target="/ppt/notesSlides/notesSlide10.xml" Id="Rb23e960830c442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1b618c48c84833" /><Relationship Type="http://schemas.openxmlformats.org/officeDocument/2006/relationships/notesSlide" Target="/ppt/notesSlides/notesSlide11.xml" Id="R0af85300a85f44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d9bb15c38c4465f" /><Relationship Type="http://schemas.openxmlformats.org/officeDocument/2006/relationships/notesSlide" Target="/ppt/notesSlides/notesSlide12.xml" Id="Rdbb7363c772c4f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6ed89bda91740fc" /><Relationship Type="http://schemas.openxmlformats.org/officeDocument/2006/relationships/notesSlide" Target="/ppt/notesSlides/notesSlide13.xml" Id="R5eebea6f3654437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f98cd1495ca4586" /><Relationship Type="http://schemas.openxmlformats.org/officeDocument/2006/relationships/notesSlide" Target="/ppt/notesSlides/notesSlide14.xml" Id="R890f20c4c5e04d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4c57bbd18ca49d4" /><Relationship Type="http://schemas.openxmlformats.org/officeDocument/2006/relationships/notesSlide" Target="/ppt/notesSlides/notesSlide15.xml" Id="R10a45b5a58bb45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c5f5f7f3e464147" /><Relationship Type="http://schemas.openxmlformats.org/officeDocument/2006/relationships/notesSlide" Target="/ppt/notesSlides/notesSlide16.xml" Id="Re2dcaf5f1cd04b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7d239114d946b4" /><Relationship Type="http://schemas.openxmlformats.org/officeDocument/2006/relationships/notesSlide" Target="/ppt/notesSlides/notesSlide17.xml" Id="R7f1ec1d9c2c74b3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594622925574fe4" /><Relationship Type="http://schemas.openxmlformats.org/officeDocument/2006/relationships/notesSlide" Target="/ppt/notesSlides/notesSlide18.xml" Id="R537a3ba551124f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1978ee98c154ee4" /><Relationship Type="http://schemas.openxmlformats.org/officeDocument/2006/relationships/notesSlide" Target="/ppt/notesSlides/notesSlide19.xml" Id="R85c587df0029434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31c5290e3745f3" /><Relationship Type="http://schemas.openxmlformats.org/officeDocument/2006/relationships/notesSlide" Target="/ppt/notesSlides/notesSlide20.xml" Id="R6576d460357446a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555936021df4d26" /><Relationship Type="http://schemas.openxmlformats.org/officeDocument/2006/relationships/notesSlide" Target="/ppt/notesSlides/notesSlide21.xml" Id="Re60c22d2ca354e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78c246caddc46c1" /><Relationship Type="http://schemas.openxmlformats.org/officeDocument/2006/relationships/notesSlide" Target="/ppt/notesSlides/notesSlide22.xml" Id="R6b5efa027c7c49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d4cb86feb7a4c91" /><Relationship Type="http://schemas.openxmlformats.org/officeDocument/2006/relationships/notesSlide" Target="/ppt/notesSlides/notesSlide23.xml" Id="R3caaa70b306549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8903328f3cb494d" /><Relationship Type="http://schemas.openxmlformats.org/officeDocument/2006/relationships/notesSlide" Target="/ppt/notesSlides/notesSlide24.xml" Id="Re4ca94858efa41c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bcd3f18e23646d9" /><Relationship Type="http://schemas.openxmlformats.org/officeDocument/2006/relationships/notesSlide" Target="/ppt/notesSlides/notesSlide25.xml" Id="R02139a0b9f4445f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4ce72eb0cd0425b" /><Relationship Type="http://schemas.openxmlformats.org/officeDocument/2006/relationships/notesSlide" Target="/ppt/notesSlides/notesSlide26.xml" Id="R6609b5cad52f4e1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7ff7009de8d42f1" /><Relationship Type="http://schemas.openxmlformats.org/officeDocument/2006/relationships/notesSlide" Target="/ppt/notesSlides/notesSlide27.xml" Id="R3ff1e238f5e845a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8a4e402c8d7413c" /><Relationship Type="http://schemas.openxmlformats.org/officeDocument/2006/relationships/notesSlide" Target="/ppt/notesSlides/notesSlide28.xml" Id="R3ca87f09b8fc4a7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555f8b50ca24e91" /><Relationship Type="http://schemas.openxmlformats.org/officeDocument/2006/relationships/notesSlide" Target="/ppt/notesSlides/notesSlide29.xml" Id="R5a2e0db6609c497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3fcd3e195d84b4f" /><Relationship Type="http://schemas.openxmlformats.org/officeDocument/2006/relationships/notesSlide" Target="/ppt/notesSlides/notesSlide30.xml" Id="R41a7e2e0b53247e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1912c9449374a3f" /><Relationship Type="http://schemas.openxmlformats.org/officeDocument/2006/relationships/notesSlide" Target="/ppt/notesSlides/notesSlide31.xml" Id="R903556815cdb47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3ded39dbab74111" /><Relationship Type="http://schemas.openxmlformats.org/officeDocument/2006/relationships/notesSlide" Target="/ppt/notesSlides/notesSlide32.xml" Id="R4df9d14759bc4bc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75d2c91c6ec4812" /><Relationship Type="http://schemas.openxmlformats.org/officeDocument/2006/relationships/notesSlide" Target="/ppt/notesSlides/notesSlide33.xml" Id="Rd5f42aa7a8e8468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d27b9deb17d450d" /><Relationship Type="http://schemas.openxmlformats.org/officeDocument/2006/relationships/notesSlide" Target="/ppt/notesSlides/notesSlide34.xml" Id="Rd9d88e1aad00476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ed2163efe7b4f81" /><Relationship Type="http://schemas.openxmlformats.org/officeDocument/2006/relationships/notesSlide" Target="/ppt/notesSlides/notesSlide35.xml" Id="R56ad812247e843d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DFABA4-7A0E-4B4D-A4BD-8AB552F91391}"/>
              </a:ext>
            </a:extLst>
          </p:cNvPr>
          <p:cNvSpPr>
            <a:spLocks xmlns:a="http://schemas.openxmlformats.org/drawingml/2006/main" noGrp="1"/>
          </p:cNvSpPr>
          <p:nvPr/>
        </p:nvSpPr>
        <p:spPr>
          <a:xfrm xmlns:a="http://schemas.openxmlformats.org/drawingml/2006/main">
            <a:off x="838200" y="1809750"/>
            <a:ext cx="135636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002E5D"/>
                </a:solidFill>
                <a:latin typeface="DejaVu Sans"/>
                <a:ea typeface="DejaVu Sans"/>
                <a:cs typeface="DejaVu Sans"/>
              </a:defRPr>
            </a:pPr>
            <a:r>
              <a:rPr sz="5700" b="1">
                <a:solidFill>
                  <a:srgbClr val="002E5D"/>
                </a:solidFill>
                <a:latin typeface="DejaVu Sans"/>
                <a:ea typeface="DejaVu Sans"/>
                <a:cs typeface="DejaVu Sans"/>
              </a:rPr>
              <a:t>Joining relational data</a:t>
            </a:r>
          </a:p>
        </p:txBody>
      </p:sp>
      <p:sp>
        <p:nvSpPr>
          <p:cNvPr id="2" name="">
            <a:extLst xmlns:a="http://schemas.openxmlformats.org/drawingml/2006/main">
              <a:ext uri="{FF2B5EF4-FFF2-40B4-BE49-F238E27FC236}">
                <a16:creationId xmlns:a16="http://schemas.microsoft.com/office/drawing/2014/main" id="{EA8461DC-0495-4A16-AB6E-3C22B171AC10}"/>
              </a:ext>
            </a:extLst>
          </p:cNvPr>
          <p:cNvSpPr>
            <a:spLocks xmlns:a="http://schemas.openxmlformats.org/drawingml/2006/main" noGrp="1"/>
          </p:cNvSpPr>
          <p:nvPr/>
        </p:nvSpPr>
        <p:spPr>
          <a:xfrm xmlns:a="http://schemas.openxmlformats.org/drawingml/2006/main">
            <a:off x="838200" y="3143250"/>
            <a:ext cx="1356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0">
                <a:solidFill>
                  <a:srgbClr val="49657C"/>
                </a:solidFill>
                <a:latin typeface="DejaVu Sans"/>
                <a:ea typeface="DejaVu Sans"/>
                <a:cs typeface="DejaVu Sans"/>
              </a:defRPr>
            </a:pPr>
            <a:r>
              <a:rPr sz="3000" b="0">
                <a:solidFill>
                  <a:srgbClr val="49657C"/>
                </a:solidFill>
                <a:latin typeface="DejaVu Sans"/>
                <a:ea typeface="DejaVu Sans"/>
                <a:cs typeface="DejaVu Sans"/>
              </a:rPr>
              <a:t>What happens to one row when we combine tables?</a:t>
            </a:r>
          </a:p>
        </p:txBody>
      </p:sp>
      <p:sp>
        <p:nvSpPr>
          <p:cNvPr id="3" name="">
            <a:extLst xmlns:a="http://schemas.openxmlformats.org/drawingml/2006/main">
              <a:ext uri="{FF2B5EF4-FFF2-40B4-BE49-F238E27FC236}">
                <a16:creationId xmlns:a16="http://schemas.microsoft.com/office/drawing/2014/main" id="{C4758C8A-D452-4191-A3BC-A95892C802CC}"/>
              </a:ext>
            </a:extLst>
          </p:cNvPr>
          <p:cNvSpPr>
            <a:spLocks xmlns:a="http://schemas.openxmlformats.org/drawingml/2006/main" noGrp="1"/>
          </p:cNvSpPr>
          <p:nvPr/>
        </p:nvSpPr>
        <p:spPr>
          <a:xfrm xmlns:a="http://schemas.openxmlformats.org/drawingml/2006/main">
            <a:off x="838200" y="5334000"/>
            <a:ext cx="1356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49657C"/>
                </a:solidFill>
                <a:latin typeface="DejaVu Sans"/>
                <a:ea typeface="DejaVu Sans"/>
                <a:cs typeface="DejaVu Sans"/>
              </a:defRPr>
            </a:pPr>
            <a:r>
              <a:rPr sz="2400" b="0">
                <a:solidFill>
                  <a:srgbClr val="49657C"/>
                </a:solidFill>
                <a:latin typeface="DejaVu Sans"/>
                <a:ea typeface="DejaVu Sans"/>
                <a:cs typeface="DejaVu Sans"/>
              </a:rPr>
              <a:t>STAT 386</a:t>
            </a:r>
          </a:p>
          <a:p xmlns:a="http://schemas.openxmlformats.org/drawingml/2006/main">
            <a:pPr>
              <a:buNone/>
              <a:defRPr sz="2400" b="0">
                <a:solidFill>
                  <a:srgbClr val="49657C"/>
                </a:solidFill>
                <a:latin typeface="DejaVu Sans"/>
                <a:ea typeface="DejaVu Sans"/>
                <a:cs typeface="DejaVu Sans"/>
              </a:defRPr>
            </a:pPr>
            <a:r>
              <a:rPr sz="2400" b="0">
                <a:solidFill>
                  <a:srgbClr val="49657C"/>
                </a:solidFill>
                <a:latin typeface="DejaVu Sans"/>
                <a:ea typeface="DejaVu Sans"/>
                <a:cs typeface="DejaVu Sans"/>
              </a:rPr>
              <a:t>October 7, 2026</a:t>
            </a:r>
          </a:p>
        </p:txBody>
      </p:sp>
      <p:sp>
        <p:nvSpPr>
          <p:cNvPr id="4" name="">
            <a:extLst xmlns:a="http://schemas.openxmlformats.org/drawingml/2006/main">
              <a:ext uri="{FF2B5EF4-FFF2-40B4-BE49-F238E27FC236}">
                <a16:creationId xmlns:a16="http://schemas.microsoft.com/office/drawing/2014/main" id="{C9D86D7C-1614-4464-A359-F03BBC5D239D}"/>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 / 35</a:t>
            </a:r>
          </a:p>
        </p:txBody>
      </p:sp>
    </p:spTree>
    <p:extLst>
      <p:ext uri="{BB962C8B-B14F-4D97-AF65-F5344CB8AC3E}">
        <p14:creationId xmlns:p14="http://schemas.microsoft.com/office/powerpoint/2010/main" val="7859223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1B0889-A873-42C2-9048-33C9493D603F}"/>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Review: row identity</a:t>
            </a:r>
          </a:p>
        </p:txBody>
      </p:sp>
      <p:graphicFrame>
        <p:nvGraphicFramePr>
          <p:cNvPr id="9" name=""/>
          <p:cNvGraphicFramePr/>
          <p:nvPr/>
        </p:nvGraphicFramePr>
        <p:xfrm>
          <a:off xmlns:a="http://schemas.openxmlformats.org/drawingml/2006/main" x="838200" y="1524000"/>
          <a:ext xmlns:a="http://schemas.openxmlformats.org/drawingml/2006/main" cx="13563600" cy="2428875"/>
        </p:xfrm>
        <a:graphic xmlns:a="http://schemas.openxmlformats.org/drawingml/2006/main">
          <a:graphicData uri="http://schemas.openxmlformats.org/drawingml/2006/table">
            <a:tbl>
              <a:tblPr firstRow="1" bandRow="0"/>
              <a:tblGrid>
                <a:gridCol w="4521200"/>
                <a:gridCol w="4521200"/>
                <a:gridCol w="4521200"/>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keyword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count</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faith</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4</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prayer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faith</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prayer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2F6F9"/>
                    </a:solidFill>
                  </a:tcPr>
                </a:tc>
              </a:tr>
            </a:tbl>
          </a:graphicData>
        </a:graphic>
      </p:graphicFrame>
      <p:sp>
        <p:nvSpPr>
          <p:cNvPr id="3" name="">
            <a:extLst xmlns:a="http://schemas.openxmlformats.org/drawingml/2006/main">
              <a:ext uri="{FF2B5EF4-FFF2-40B4-BE49-F238E27FC236}">
                <a16:creationId xmlns:a16="http://schemas.microsoft.com/office/drawing/2014/main" id="{5CBD2A21-235A-40E6-8A49-D9F71067E6CF}"/>
              </a:ext>
            </a:extLst>
          </p:cNvPr>
          <p:cNvSpPr>
            <a:spLocks xmlns:a="http://schemas.openxmlformats.org/drawingml/2006/main" noGrp="1"/>
          </p:cNvSpPr>
          <p:nvPr/>
        </p:nvSpPr>
        <p:spPr>
          <a:xfrm xmlns:a="http://schemas.openxmlformats.org/drawingml/2006/main">
            <a:off x="838200" y="41814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With a partner: What does one row represent? Which columns identify it?</a:t>
            </a:r>
          </a:p>
        </p:txBody>
      </p:sp>
      <p:sp>
        <p:nvSpPr>
          <p:cNvPr id="4" name="">
            <a:extLst xmlns:a="http://schemas.openxmlformats.org/drawingml/2006/main">
              <a:ext uri="{FF2B5EF4-FFF2-40B4-BE49-F238E27FC236}">
                <a16:creationId xmlns:a16="http://schemas.microsoft.com/office/drawing/2014/main" id="{092C96B4-6D97-406E-BAE8-B3D8BD4A62B6}"/>
              </a:ext>
            </a:extLst>
          </p:cNvPr>
          <p:cNvSpPr>
            <a:spLocks xmlns:a="http://schemas.openxmlformats.org/drawingml/2006/main" noGrp="1"/>
          </p:cNvSpPr>
          <p:nvPr/>
        </p:nvSpPr>
        <p:spPr>
          <a:xfrm xmlns:a="http://schemas.openxmlformats.org/drawingml/2006/main">
            <a:off x="838200" y="48768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What would go wrong if we pivoted using talk_id alone?</a:t>
            </a:r>
          </a:p>
        </p:txBody>
      </p:sp>
      <p:sp>
        <p:nvSpPr>
          <p:cNvPr id="5" name="">
            <a:extLst xmlns:a="http://schemas.openxmlformats.org/drawingml/2006/main">
              <a:ext uri="{FF2B5EF4-FFF2-40B4-BE49-F238E27FC236}">
                <a16:creationId xmlns:a16="http://schemas.microsoft.com/office/drawing/2014/main" id="{2615CEDB-9110-4F40-99DF-160C308282C6}"/>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 / 35</a:t>
            </a:r>
          </a:p>
        </p:txBody>
      </p:sp>
    </p:spTree>
    <p:extLst>
      <p:ext uri="{BB962C8B-B14F-4D97-AF65-F5344CB8AC3E}">
        <p14:creationId xmlns:p14="http://schemas.microsoft.com/office/powerpoint/2010/main" val="3336246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D07ABA-BA97-4885-B1C8-FF758A77ADD2}"/>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Review: the identifying columns</a:t>
            </a:r>
          </a:p>
        </p:txBody>
      </p:sp>
      <p:sp>
        <p:nvSpPr>
          <p:cNvPr id="2" name="">
            <a:extLst xmlns:a="http://schemas.openxmlformats.org/drawingml/2006/main">
              <a:ext uri="{FF2B5EF4-FFF2-40B4-BE49-F238E27FC236}">
                <a16:creationId xmlns:a16="http://schemas.microsoft.com/office/drawing/2014/main" id="{78FF2E98-B9D3-4661-80EE-F8A4107C2E0E}"/>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One row represents one talk-keyword combination.</a:t>
            </a:r>
          </a:p>
        </p:txBody>
      </p:sp>
      <p:sp>
        <p:nvSpPr>
          <p:cNvPr id="3" name="">
            <a:extLst xmlns:a="http://schemas.openxmlformats.org/drawingml/2006/main">
              <a:ext uri="{FF2B5EF4-FFF2-40B4-BE49-F238E27FC236}">
                <a16:creationId xmlns:a16="http://schemas.microsoft.com/office/drawing/2014/main" id="{DB0FA7C3-02B2-495A-B30C-13975367054B}"/>
              </a:ext>
            </a:extLst>
          </p:cNvPr>
          <p:cNvSpPr>
            <a:spLocks xmlns:a="http://schemas.openxmlformats.org/drawingml/2006/main" noGrp="1"/>
          </p:cNvSpPr>
          <p:nvPr/>
        </p:nvSpPr>
        <p:spPr>
          <a:xfrm xmlns:a="http://schemas.openxmlformats.org/drawingml/2006/main">
            <a:off x="838200" y="22193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key is (talk_id, keyword). Each pair appears once.</a:t>
            </a:r>
          </a:p>
        </p:txBody>
      </p:sp>
      <p:sp>
        <p:nvSpPr>
          <p:cNvPr id="4" name="">
            <a:extLst xmlns:a="http://schemas.openxmlformats.org/drawingml/2006/main">
              <a:ext uri="{FF2B5EF4-FFF2-40B4-BE49-F238E27FC236}">
                <a16:creationId xmlns:a16="http://schemas.microsoft.com/office/drawing/2014/main" id="{F2F7F2E4-6659-4C3C-9FDB-C31C8386DF0D}"/>
              </a:ext>
            </a:extLst>
          </p:cNvPr>
          <p:cNvSpPr>
            <a:spLocks xmlns:a="http://schemas.openxmlformats.org/drawingml/2006/main" noGrp="1"/>
          </p:cNvSpPr>
          <p:nvPr/>
        </p:nvSpPr>
        <p:spPr>
          <a:xfrm xmlns:a="http://schemas.openxmlformats.org/drawingml/2006/main">
            <a:off x="838200" y="2914650"/>
            <a:ext cx="13563600" cy="11525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wide = long.pivot(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index="talk_id", columns="keyword", values="count"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p:txBody>
      </p:sp>
      <p:graphicFrame>
        <p:nvGraphicFramePr>
          <p:cNvPr id="13" name=""/>
          <p:cNvGraphicFramePr/>
          <p:nvPr/>
        </p:nvGraphicFramePr>
        <p:xfrm>
          <a:off xmlns:a="http://schemas.openxmlformats.org/drawingml/2006/main" x="838200" y="4295775"/>
          <a:ext xmlns:a="http://schemas.openxmlformats.org/drawingml/2006/main" cx="13563600" cy="1457325"/>
        </p:xfrm>
        <a:graphic xmlns:a="http://schemas.openxmlformats.org/drawingml/2006/main">
          <a:graphicData uri="http://schemas.openxmlformats.org/drawingml/2006/table">
            <a:tbl>
              <a:tblPr firstRow="1" bandRow="0"/>
              <a:tblGrid>
                <a:gridCol w="4521200"/>
                <a:gridCol w="4521200"/>
                <a:gridCol w="4521200"/>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faith</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prayer</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4</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2</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8C2ABED7-9508-4A54-802F-1155F5BA2620}"/>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 / 35</a:t>
            </a:r>
          </a:p>
        </p:txBody>
      </p:sp>
    </p:spTree>
    <p:extLst>
      <p:ext uri="{BB962C8B-B14F-4D97-AF65-F5344CB8AC3E}">
        <p14:creationId xmlns:p14="http://schemas.microsoft.com/office/powerpoint/2010/main" val="6599078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A4A6A9-0553-44D1-9392-E194BD7491C2}"/>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 question that needs another table</a:t>
            </a:r>
          </a:p>
        </p:txBody>
      </p:sp>
      <p:sp>
        <p:nvSpPr>
          <p:cNvPr id="2" name="">
            <a:extLst xmlns:a="http://schemas.openxmlformats.org/drawingml/2006/main">
              <a:ext uri="{FF2B5EF4-FFF2-40B4-BE49-F238E27FC236}">
                <a16:creationId xmlns:a16="http://schemas.microsoft.com/office/drawing/2014/main" id="{F7A0563B-15F7-4F7F-9EBB-A663BA1C7C3D}"/>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How does average talk length differ between speaker groups?</a:t>
            </a:r>
          </a:p>
        </p:txBody>
      </p:sp>
      <p:sp>
        <p:nvSpPr>
          <p:cNvPr id="3" name="">
            <a:extLst xmlns:a="http://schemas.openxmlformats.org/drawingml/2006/main">
              <a:ext uri="{FF2B5EF4-FFF2-40B4-BE49-F238E27FC236}">
                <a16:creationId xmlns:a16="http://schemas.microsoft.com/office/drawing/2014/main" id="{320E8B7D-7812-4FA8-9E26-25A33873E59B}"/>
              </a:ext>
            </a:extLst>
          </p:cNvPr>
          <p:cNvSpPr>
            <a:spLocks xmlns:a="http://schemas.openxmlformats.org/drawingml/2006/main" noGrp="1"/>
          </p:cNvSpPr>
          <p:nvPr/>
        </p:nvSpPr>
        <p:spPr>
          <a:xfrm xmlns:a="http://schemas.openxmlformats.org/drawingml/2006/main">
            <a:off x="838200" y="2219325"/>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talks: one row per talk</a:t>
            </a:r>
          </a:p>
        </p:txBody>
      </p:sp>
      <p:graphicFrame>
        <p:nvGraphicFramePr>
          <p:cNvPr id="15" name=""/>
          <p:cNvGraphicFramePr/>
          <p:nvPr/>
        </p:nvGraphicFramePr>
        <p:xfrm>
          <a:off xmlns:a="http://schemas.openxmlformats.org/drawingml/2006/main" x="838200" y="2657475"/>
          <a:ext xmlns:a="http://schemas.openxmlformats.org/drawingml/2006/main" cx="6572250" cy="2914650"/>
        </p:xfrm>
        <a:graphic xmlns:a="http://schemas.openxmlformats.org/drawingml/2006/main">
          <a:graphicData uri="http://schemas.openxmlformats.org/drawingml/2006/table">
            <a:tbl>
              <a:tblPr firstRow="1" bandRow="0"/>
              <a:tblGrid>
                <a:gridCol w="2112509"/>
                <a:gridCol w="2347232"/>
                <a:gridCol w="2112509"/>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1600</a:t>
                      </a:r>
                    </a:p>
                  </a:txBody>
                  <a:tcPr marL="95250" marR="95250" marT="57150" marB="571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20D3A0C-DA44-44C1-8B61-96E71ACBB5F2}"/>
              </a:ext>
            </a:extLst>
          </p:cNvPr>
          <p:cNvSpPr>
            <a:spLocks xmlns:a="http://schemas.openxmlformats.org/drawingml/2006/main" noGrp="1"/>
          </p:cNvSpPr>
          <p:nvPr/>
        </p:nvSpPr>
        <p:spPr>
          <a:xfrm xmlns:a="http://schemas.openxmlformats.org/drawingml/2006/main">
            <a:off x="7829550" y="2219325"/>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speakers: one row per speaker</a:t>
            </a:r>
          </a:p>
        </p:txBody>
      </p:sp>
      <p:graphicFrame>
        <p:nvGraphicFramePr>
          <p:cNvPr id="17" name=""/>
          <p:cNvGraphicFramePr/>
          <p:nvPr/>
        </p:nvGraphicFramePr>
        <p:xfrm>
          <a:off xmlns:a="http://schemas.openxmlformats.org/drawingml/2006/main" x="7829550" y="2657475"/>
          <a:ext xmlns:a="http://schemas.openxmlformats.org/drawingml/2006/main" cx="6572250" cy="1943100"/>
        </p:xfrm>
        <a:graphic xmlns:a="http://schemas.openxmlformats.org/drawingml/2006/main">
          <a:graphicData uri="http://schemas.openxmlformats.org/drawingml/2006/table">
            <a:tbl>
              <a:tblPr firstRow="1" bandRow="0"/>
              <a:tblGrid>
                <a:gridCol w="2347232"/>
                <a:gridCol w="2112509"/>
                <a:gridCol w="2112509"/>
              </a:tblGrid>
              <a:tr h="485775">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S4</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Casey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FADEB4-7217-4D0A-86A4-F181E22F068A}"/>
              </a:ext>
            </a:extLst>
          </p:cNvPr>
          <p:cNvSpPr>
            <a:spLocks xmlns:a="http://schemas.openxmlformats.org/drawingml/2006/main" noGrp="1"/>
          </p:cNvSpPr>
          <p:nvPr/>
        </p:nvSpPr>
        <p:spPr>
          <a:xfrm xmlns:a="http://schemas.openxmlformats.org/drawingml/2006/main">
            <a:off x="838200" y="58959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All names, groups, and values are fictional teaching data.</a:t>
            </a:r>
          </a:p>
        </p:txBody>
      </p:sp>
      <p:sp>
        <p:nvSpPr>
          <p:cNvPr id="8" name="">
            <a:extLst xmlns:a="http://schemas.openxmlformats.org/drawingml/2006/main">
              <a:ext uri="{FF2B5EF4-FFF2-40B4-BE49-F238E27FC236}">
                <a16:creationId xmlns:a16="http://schemas.microsoft.com/office/drawing/2014/main" id="{7590CC97-FC7E-46DB-8AF9-FB4022FB09E2}"/>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4 / 35</a:t>
            </a:r>
          </a:p>
        </p:txBody>
      </p:sp>
    </p:spTree>
    <p:extLst>
      <p:ext uri="{BB962C8B-B14F-4D97-AF65-F5344CB8AC3E}">
        <p14:creationId xmlns:p14="http://schemas.microsoft.com/office/powerpoint/2010/main" val="12976225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013405-7AE2-4543-8A08-B8E37828BC0C}"/>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One master file repeats speaker information</a:t>
            </a:r>
          </a:p>
        </p:txBody>
      </p:sp>
      <p:sp>
        <p:nvSpPr>
          <p:cNvPr id="2" name="">
            <a:extLst xmlns:a="http://schemas.openxmlformats.org/drawingml/2006/main">
              <a:ext uri="{FF2B5EF4-FFF2-40B4-BE49-F238E27FC236}">
                <a16:creationId xmlns:a16="http://schemas.microsoft.com/office/drawing/2014/main" id="{751D968E-E7BE-47E6-987D-936CCAC67366}"/>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single CSV is convenient when someone has already prepared it for analysis.</a:t>
            </a:r>
          </a:p>
        </p:txBody>
      </p:sp>
      <p:graphicFrame>
        <p:nvGraphicFramePr>
          <p:cNvPr id="11" name=""/>
          <p:cNvGraphicFramePr/>
          <p:nvPr/>
        </p:nvGraphicFramePr>
        <p:xfrm>
          <a:off xmlns:a="http://schemas.openxmlformats.org/drawingml/2006/main" x="838200" y="2219325"/>
          <a:ext xmlns:a="http://schemas.openxmlformats.org/drawingml/2006/main" cx="13563600" cy="2428875"/>
        </p:xfrm>
        <a:graphic xmlns:a="http://schemas.openxmlformats.org/drawingml/2006/main">
          <a:graphicData uri="http://schemas.openxmlformats.org/drawingml/2006/table">
            <a:tbl>
              <a:tblPr firstRow="1" bandRow="0"/>
              <a:tblGrid>
                <a:gridCol w="2653748"/>
                <a:gridCol w="2948609"/>
                <a:gridCol w="2653748"/>
                <a:gridCol w="2653748"/>
                <a:gridCol w="2653748"/>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bl>
          </a:graphicData>
        </a:graphic>
      </p:graphicFrame>
      <p:sp>
        <p:nvSpPr>
          <p:cNvPr id="4" name="">
            <a:extLst xmlns:a="http://schemas.openxmlformats.org/drawingml/2006/main">
              <a:ext uri="{FF2B5EF4-FFF2-40B4-BE49-F238E27FC236}">
                <a16:creationId xmlns:a16="http://schemas.microsoft.com/office/drawing/2014/main" id="{5E901C1B-4AEB-4C41-A04F-A16AC7779894}"/>
              </a:ext>
            </a:extLst>
          </p:cNvPr>
          <p:cNvSpPr>
            <a:spLocks xmlns:a="http://schemas.openxmlformats.org/drawingml/2006/main" noGrp="1"/>
          </p:cNvSpPr>
          <p:nvPr/>
        </p:nvSpPr>
        <p:spPr>
          <a:xfrm xmlns:a="http://schemas.openxmlformats.org/drawingml/2006/main">
            <a:off x="838200" y="487680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Avery’s details repeat in three rows. A correction would require updating each copy.</a:t>
            </a:r>
          </a:p>
        </p:txBody>
      </p:sp>
      <p:sp>
        <p:nvSpPr>
          <p:cNvPr id="5" name="">
            <a:extLst xmlns:a="http://schemas.openxmlformats.org/drawingml/2006/main">
              <a:ext uri="{FF2B5EF4-FFF2-40B4-BE49-F238E27FC236}">
                <a16:creationId xmlns:a16="http://schemas.microsoft.com/office/drawing/2014/main" id="{49B735B6-043D-42DF-B50A-53F36AD7C628}"/>
              </a:ext>
            </a:extLst>
          </p:cNvPr>
          <p:cNvSpPr>
            <a:spLocks xmlns:a="http://schemas.openxmlformats.org/drawingml/2006/main" noGrp="1"/>
          </p:cNvSpPr>
          <p:nvPr/>
        </p:nvSpPr>
        <p:spPr>
          <a:xfrm xmlns:a="http://schemas.openxmlformats.org/drawingml/2006/main">
            <a:off x="838200" y="59817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If only one copy changes, the same speaker can have conflicting information.</a:t>
            </a:r>
          </a:p>
        </p:txBody>
      </p:sp>
      <p:sp>
        <p:nvSpPr>
          <p:cNvPr id="6" name="">
            <a:extLst xmlns:a="http://schemas.openxmlformats.org/drawingml/2006/main">
              <a:ext uri="{FF2B5EF4-FFF2-40B4-BE49-F238E27FC236}">
                <a16:creationId xmlns:a16="http://schemas.microsoft.com/office/drawing/2014/main" id="{E54532A2-6B3E-4346-9F06-3EB83EA06BF5}"/>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5 / 35</a:t>
            </a:r>
          </a:p>
        </p:txBody>
      </p:sp>
    </p:spTree>
    <p:extLst>
      <p:ext uri="{BB962C8B-B14F-4D97-AF65-F5344CB8AC3E}">
        <p14:creationId xmlns:p14="http://schemas.microsoft.com/office/powerpoint/2010/main" val="915627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342F21-781E-4BC4-9242-103D4D001198}"/>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Separate tables support reliable updates</a:t>
            </a:r>
          </a:p>
        </p:txBody>
      </p:sp>
      <p:sp>
        <p:nvSpPr>
          <p:cNvPr id="2" name="">
            <a:extLst xmlns:a="http://schemas.openxmlformats.org/drawingml/2006/main">
              <a:ext uri="{FF2B5EF4-FFF2-40B4-BE49-F238E27FC236}">
                <a16:creationId xmlns:a16="http://schemas.microsoft.com/office/drawing/2014/main" id="{869BE739-8EBB-4EBA-A660-E9CDD74B3156}"/>
              </a:ext>
            </a:extLst>
          </p:cNvPr>
          <p:cNvSpPr>
            <a:spLocks xmlns:a="http://schemas.openxmlformats.org/drawingml/2006/main" noGrp="1"/>
          </p:cNvSpPr>
          <p:nvPr/>
        </p:nvSpPr>
        <p:spPr>
          <a:xfrm xmlns:a="http://schemas.openxmlformats.org/drawingml/2006/main">
            <a:off x="838200" y="152400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speaker table stores a speaker’s details once. Each talk references the speaker ID.</a:t>
            </a:r>
          </a:p>
        </p:txBody>
      </p:sp>
      <p:sp>
        <p:nvSpPr>
          <p:cNvPr id="3" name="">
            <a:extLst xmlns:a="http://schemas.openxmlformats.org/drawingml/2006/main">
              <a:ext uri="{FF2B5EF4-FFF2-40B4-BE49-F238E27FC236}">
                <a16:creationId xmlns:a16="http://schemas.microsoft.com/office/drawing/2014/main" id="{CAA22F94-0EC0-45F1-B728-18EE95BA59E0}"/>
              </a:ext>
            </a:extLst>
          </p:cNvPr>
          <p:cNvSpPr>
            <a:spLocks xmlns:a="http://schemas.openxmlformats.org/drawingml/2006/main" noGrp="1"/>
          </p:cNvSpPr>
          <p:nvPr/>
        </p:nvSpPr>
        <p:spPr>
          <a:xfrm xmlns:a="http://schemas.openxmlformats.org/drawingml/2006/main">
            <a:off x="838200" y="262890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new speaker can enter the directory before giving a talk. A new talk can reference an existing speaker.</a:t>
            </a:r>
          </a:p>
        </p:txBody>
      </p:sp>
      <p:sp>
        <p:nvSpPr>
          <p:cNvPr id="4" name="">
            <a:extLst xmlns:a="http://schemas.openxmlformats.org/drawingml/2006/main">
              <a:ext uri="{FF2B5EF4-FFF2-40B4-BE49-F238E27FC236}">
                <a16:creationId xmlns:a16="http://schemas.microsoft.com/office/drawing/2014/main" id="{7145CDF3-E845-4334-9414-396DBCBE2345}"/>
              </a:ext>
            </a:extLst>
          </p:cNvPr>
          <p:cNvSpPr>
            <a:spLocks xmlns:a="http://schemas.openxmlformats.org/drawingml/2006/main" noGrp="1"/>
          </p:cNvSpPr>
          <p:nvPr/>
        </p:nvSpPr>
        <p:spPr>
          <a:xfrm xmlns:a="http://schemas.openxmlformats.org/drawingml/2006/main">
            <a:off x="838200" y="37338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Many talks can share the same speaker, conference, and session records.</a:t>
            </a:r>
          </a:p>
        </p:txBody>
      </p:sp>
      <p:sp>
        <p:nvSpPr>
          <p:cNvPr id="5" name="">
            <a:extLst xmlns:a="http://schemas.openxmlformats.org/drawingml/2006/main">
              <a:ext uri="{FF2B5EF4-FFF2-40B4-BE49-F238E27FC236}">
                <a16:creationId xmlns:a16="http://schemas.microsoft.com/office/drawing/2014/main" id="{E646C47B-EC03-47A0-BCFF-ACF935A624D7}"/>
              </a:ext>
            </a:extLst>
          </p:cNvPr>
          <p:cNvSpPr>
            <a:spLocks xmlns:a="http://schemas.openxmlformats.org/drawingml/2006/main" noGrp="1"/>
          </p:cNvSpPr>
          <p:nvPr/>
        </p:nvSpPr>
        <p:spPr>
          <a:xfrm xmlns:a="http://schemas.openxmlformats.org/drawingml/2006/main">
            <a:off x="838200" y="4429125"/>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join creates the combined table we need for analysis. We can export that result as a CSV.</a:t>
            </a:r>
          </a:p>
        </p:txBody>
      </p:sp>
      <p:sp>
        <p:nvSpPr>
          <p:cNvPr id="6" name="">
            <a:extLst xmlns:a="http://schemas.openxmlformats.org/drawingml/2006/main">
              <a:ext uri="{FF2B5EF4-FFF2-40B4-BE49-F238E27FC236}">
                <a16:creationId xmlns:a16="http://schemas.microsoft.com/office/drawing/2014/main" id="{331793FA-B178-4DDE-9E6E-5D7A9117F9BC}"/>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6 / 35</a:t>
            </a:r>
          </a:p>
        </p:txBody>
      </p:sp>
    </p:spTree>
    <p:extLst>
      <p:ext uri="{BB962C8B-B14F-4D97-AF65-F5344CB8AC3E}">
        <p14:creationId xmlns:p14="http://schemas.microsoft.com/office/powerpoint/2010/main" val="16312241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8ABECC-88B1-4084-846D-893BB57A820B}"/>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Keys</a:t>
            </a:r>
          </a:p>
        </p:txBody>
      </p:sp>
      <p:graphicFrame>
        <p:nvGraphicFramePr>
          <p:cNvPr id="9" name=""/>
          <p:cNvGraphicFramePr/>
          <p:nvPr/>
        </p:nvGraphicFramePr>
        <p:xfrm>
          <a:off xmlns:a="http://schemas.openxmlformats.org/drawingml/2006/main" x="838200" y="1524000"/>
          <a:ext xmlns:a="http://schemas.openxmlformats.org/drawingml/2006/main" cx="13563600" cy="1943100"/>
        </p:xfrm>
        <a:graphic xmlns:a="http://schemas.openxmlformats.org/drawingml/2006/main">
          <a:graphicData uri="http://schemas.openxmlformats.org/drawingml/2006/table">
            <a:tbl>
              <a:tblPr firstRow="1" bandRow="0"/>
              <a:tblGrid>
                <a:gridCol w="2518954"/>
                <a:gridCol w="7363097"/>
                <a:gridCol w="3681549"/>
              </a:tblGrid>
              <a:tr h="485775">
                <a:tc>
                  <a:txBody>
                    <a:bodyPr>
                      <a:noAutofit/>
                    </a:bodyPr>
                    <a:lstStyle/>
                    <a:p>
                      <a:r>
                        <a:rPr sz="1950" b="1">
                          <a:solidFill>
                            <a:srgbClr val="FFFFFF"/>
                          </a:solidFill>
                          <a:latin typeface="DejaVu Sans"/>
                          <a:ea typeface="DejaVu Sans"/>
                          <a:cs typeface="DejaVu Sans"/>
                        </a:rPr>
                        <a:t>Term</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Meaning</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Example</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Primary key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Uniquely identifies a row in its table</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talk_id in talks</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Foreign key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References a key in another table</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speaker_id in talks</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Composite key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Uses several columns together</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year + season</a:t>
                      </a:r>
                    </a:p>
                  </a:txBody>
                  <a:tcPr marL="95250" marR="95250" marT="57150" marB="571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0B5264A-4D3E-49B0-9DB0-6CE1B8ACD5BA}"/>
              </a:ext>
            </a:extLst>
          </p:cNvPr>
          <p:cNvSpPr>
            <a:spLocks xmlns:a="http://schemas.openxmlformats.org/drawingml/2006/main" noGrp="1"/>
          </p:cNvSpPr>
          <p:nvPr/>
        </p:nvSpPr>
        <p:spPr>
          <a:xfrm xmlns:a="http://schemas.openxmlformats.org/drawingml/2006/main">
            <a:off x="838200" y="36957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speaker_id repeats in talks and is unique in our clean speakers table.</a:t>
            </a:r>
          </a:p>
        </p:txBody>
      </p:sp>
      <p:sp>
        <p:nvSpPr>
          <p:cNvPr id="4" name="">
            <a:extLst xmlns:a="http://schemas.openxmlformats.org/drawingml/2006/main">
              <a:ext uri="{FF2B5EF4-FFF2-40B4-BE49-F238E27FC236}">
                <a16:creationId xmlns:a16="http://schemas.microsoft.com/office/drawing/2014/main" id="{E4D02508-3528-4502-BE39-9000A29D6529}"/>
              </a:ext>
            </a:extLst>
          </p:cNvPr>
          <p:cNvSpPr>
            <a:spLocks xmlns:a="http://schemas.openxmlformats.org/drawingml/2006/main" noGrp="1"/>
          </p:cNvSpPr>
          <p:nvPr/>
        </p:nvSpPr>
        <p:spPr>
          <a:xfrm xmlns:a="http://schemas.openxmlformats.org/drawingml/2006/main">
            <a:off x="838200" y="43910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CSV files do not enforce these relationships. We check them.</a:t>
            </a:r>
          </a:p>
        </p:txBody>
      </p:sp>
      <p:sp>
        <p:nvSpPr>
          <p:cNvPr id="5" name="">
            <a:extLst xmlns:a="http://schemas.openxmlformats.org/drawingml/2006/main">
              <a:ext uri="{FF2B5EF4-FFF2-40B4-BE49-F238E27FC236}">
                <a16:creationId xmlns:a16="http://schemas.microsoft.com/office/drawing/2014/main" id="{E1348222-430D-4C19-992B-141CEDA2014C}"/>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7 / 35</a:t>
            </a:r>
          </a:p>
        </p:txBody>
      </p:sp>
    </p:spTree>
    <p:extLst>
      <p:ext uri="{BB962C8B-B14F-4D97-AF65-F5344CB8AC3E}">
        <p14:creationId xmlns:p14="http://schemas.microsoft.com/office/powerpoint/2010/main" val="4017918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C8440C-E4E4-4B8D-9573-4CC24D3E8518}"/>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Cardinality depends on the join key</a:t>
            </a:r>
          </a:p>
        </p:txBody>
      </p:sp>
      <p:graphicFrame>
        <p:nvGraphicFramePr>
          <p:cNvPr id="9" name=""/>
          <p:cNvGraphicFramePr/>
          <p:nvPr/>
        </p:nvGraphicFramePr>
        <p:xfrm>
          <a:off xmlns:a="http://schemas.openxmlformats.org/drawingml/2006/main" x="838200" y="1524000"/>
          <a:ext xmlns:a="http://schemas.openxmlformats.org/drawingml/2006/main" cx="13563600" cy="2428875"/>
        </p:xfrm>
        <a:graphic xmlns:a="http://schemas.openxmlformats.org/drawingml/2006/main">
          <a:graphicData uri="http://schemas.openxmlformats.org/drawingml/2006/table">
            <a:tbl>
              <a:tblPr firstRow="1" bandRow="0"/>
              <a:tblGrid>
                <a:gridCol w="2325189"/>
                <a:gridCol w="5037909"/>
                <a:gridCol w="6200503"/>
              </a:tblGrid>
              <a:tr h="485775">
                <a:tc>
                  <a:txBody>
                    <a:bodyPr>
                      <a:noAutofit/>
                    </a:bodyPr>
                    <a:lstStyle/>
                    <a:p>
                      <a:r>
                        <a:rPr sz="1950" b="1">
                          <a:solidFill>
                            <a:srgbClr val="FFFFFF"/>
                          </a:solidFill>
                          <a:latin typeface="DejaVu Sans"/>
                          <a:ea typeface="DejaVu Sans"/>
                          <a:cs typeface="DejaVu Sans"/>
                        </a:rPr>
                        <a:t>Relationship</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Key uniqueness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Example</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One-to-one</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Unique on both sides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Talks + one transcript per talk</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Many-to-one</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Repeats left, unique right</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Talks + speakers</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One-to-many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Unique left, repeats right</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Speakers + talks</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Many-to-many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Repeats on both sides</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Talks + multiple speaker records</a:t>
                      </a:r>
                    </a:p>
                  </a:txBody>
                  <a:tcPr marL="95250" marR="95250" marT="57150" marB="57150">
                    <a:solidFill>
                      <a:srgbClr val="F2F6F9"/>
                    </a:solidFill>
                  </a:tcPr>
                </a:tc>
              </a:tr>
            </a:tbl>
          </a:graphicData>
        </a:graphic>
      </p:graphicFrame>
      <p:sp>
        <p:nvSpPr>
          <p:cNvPr id="3" name="">
            <a:extLst xmlns:a="http://schemas.openxmlformats.org/drawingml/2006/main">
              <a:ext uri="{FF2B5EF4-FFF2-40B4-BE49-F238E27FC236}">
                <a16:creationId xmlns:a16="http://schemas.microsoft.com/office/drawing/2014/main" id="{053381B0-B117-4295-A66D-E4001957A9AD}"/>
              </a:ext>
            </a:extLst>
          </p:cNvPr>
          <p:cNvSpPr>
            <a:spLocks xmlns:a="http://schemas.openxmlformats.org/drawingml/2006/main" noGrp="1"/>
          </p:cNvSpPr>
          <p:nvPr/>
        </p:nvSpPr>
        <p:spPr>
          <a:xfrm xmlns:a="http://schemas.openxmlformats.org/drawingml/2006/main">
            <a:off x="838200" y="41814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For talks on the left and speakers on the right, we expect many-to-one.</a:t>
            </a:r>
          </a:p>
        </p:txBody>
      </p:sp>
      <p:sp>
        <p:nvSpPr>
          <p:cNvPr id="4" name="">
            <a:extLst xmlns:a="http://schemas.openxmlformats.org/drawingml/2006/main">
              <a:ext uri="{FF2B5EF4-FFF2-40B4-BE49-F238E27FC236}">
                <a16:creationId xmlns:a16="http://schemas.microsoft.com/office/drawing/2014/main" id="{1B3FB449-9561-4BFB-9A37-97210A237317}"/>
              </a:ext>
            </a:extLst>
          </p:cNvPr>
          <p:cNvSpPr>
            <a:spLocks xmlns:a="http://schemas.openxmlformats.org/drawingml/2006/main" noGrp="1"/>
          </p:cNvSpPr>
          <p:nvPr/>
        </p:nvSpPr>
        <p:spPr>
          <a:xfrm xmlns:a="http://schemas.openxmlformats.org/drawingml/2006/main">
            <a:off x="838200" y="48768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Predict whether the intended row unit will survive the join.</a:t>
            </a:r>
          </a:p>
        </p:txBody>
      </p:sp>
      <p:sp>
        <p:nvSpPr>
          <p:cNvPr id="5" name="">
            <a:extLst xmlns:a="http://schemas.openxmlformats.org/drawingml/2006/main">
              <a:ext uri="{FF2B5EF4-FFF2-40B4-BE49-F238E27FC236}">
                <a16:creationId xmlns:a16="http://schemas.microsoft.com/office/drawing/2014/main" id="{9BE4EE6E-44BC-4EEA-B7AD-87A6154DE348}"/>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8 / 35</a:t>
            </a:r>
          </a:p>
        </p:txBody>
      </p:sp>
    </p:spTree>
    <p:extLst>
      <p:ext uri="{BB962C8B-B14F-4D97-AF65-F5344CB8AC3E}">
        <p14:creationId xmlns:p14="http://schemas.microsoft.com/office/powerpoint/2010/main" val="4752035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D6C0E1E9-CB54-4235-97A7-74DA8F4307CB}"/>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Join types as overlapping sets of keys</a:t>
            </a:r>
          </a:p>
        </p:txBody>
      </p:sp>
      <p:sp>
        <p:nvSpPr>
          <p:cNvPr id="2" name="">
            <a:extLst xmlns:a="http://schemas.openxmlformats.org/drawingml/2006/main">
              <a:ext uri="{FF2B5EF4-FFF2-40B4-BE49-F238E27FC236}">
                <a16:creationId xmlns:a16="http://schemas.microsoft.com/office/drawing/2014/main" id="{A12616EC-DF14-47E6-8C67-56FE2F52FEA2}"/>
              </a:ext>
            </a:extLst>
          </p:cNvPr>
          <p:cNvSpPr>
            <a:spLocks xmlns:a="http://schemas.openxmlformats.org/drawingml/2006/main" noGrp="1"/>
          </p:cNvSpPr>
          <p:nvPr/>
        </p:nvSpPr>
        <p:spPr>
          <a:xfrm xmlns:a="http://schemas.openxmlformats.org/drawingml/2006/main">
            <a:off x="1457325" y="1524000"/>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250" b="1">
                <a:solidFill>
                  <a:srgbClr val="002E5D"/>
                </a:solidFill>
                <a:latin typeface="DejaVu Sans"/>
                <a:ea typeface="DejaVu Sans"/>
                <a:cs typeface="DejaVu Sans"/>
              </a:defRPr>
            </a:pPr>
            <a:r>
              <a:rPr sz="2250" b="1">
                <a:solidFill>
                  <a:srgbClr val="002E5D"/>
                </a:solidFill>
                <a:latin typeface="DejaVu Sans"/>
                <a:ea typeface="DejaVu Sans"/>
                <a:cs typeface="DejaVu Sans"/>
              </a:rPr>
              <a:t>Left join</a:t>
            </a:r>
          </a:p>
        </p:txBody>
      </p:sp>
      <p:sp>
        <p:nvSpPr>
          <p:cNvPr id="3" name="">
            <a:extLst xmlns:a="http://schemas.openxmlformats.org/drawingml/2006/main">
              <a:ext uri="{FF2B5EF4-FFF2-40B4-BE49-F238E27FC236}">
                <a16:creationId xmlns:a16="http://schemas.microsoft.com/office/drawing/2014/main" id="{7BBB7DD5-0DED-451C-A524-B00146517531}"/>
              </a:ext>
            </a:extLst>
          </p:cNvPr>
          <p:cNvSpPr>
            <a:spLocks xmlns:a="http://schemas.openxmlformats.org/drawingml/2006/main" noGrp="1"/>
          </p:cNvSpPr>
          <p:nvPr/>
        </p:nvSpPr>
        <p:spPr>
          <a:xfrm xmlns:a="http://schemas.openxmlformats.org/drawingml/2006/main">
            <a:off x="2968943" y="2177891"/>
            <a:ext cx="1560195" cy="1560195"/>
          </a:xfrm>
          <a:prstGeom xmlns:a="http://schemas.openxmlformats.org/drawingml/2006/main" prst="ellipse">
            <a:avLst/>
          </a:prstGeom>
          <a:solidFill xmlns:a="http://schemas.openxmlformats.org/drawingml/2006/main">
            <a:srgbClr val="9ED6E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FD5B0A-8F88-49E2-8C6A-3959B99E3966}"/>
              </a:ext>
            </a:extLst>
          </p:cNvPr>
          <p:cNvSpPr>
            <a:spLocks xmlns:a="http://schemas.openxmlformats.org/drawingml/2006/main" noGrp="1"/>
          </p:cNvSpPr>
          <p:nvPr/>
        </p:nvSpPr>
        <p:spPr>
          <a:xfrm xmlns:a="http://schemas.openxmlformats.org/drawingml/2006/main">
            <a:off x="3929063" y="2177891"/>
            <a:ext cx="1560195" cy="1560195"/>
          </a:xfrm>
          <a:prstGeom xmlns:a="http://schemas.openxmlformats.org/drawingml/2006/main" prst="ellipse">
            <a:avLst/>
          </a:prstGeom>
          <a:solidFill xmlns:a="http://schemas.openxmlformats.org/drawingml/2006/main">
            <a:srgbClr val="F3F5F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BB6032B-E09F-46BF-814F-7582F1D274CF}"/>
              </a:ext>
            </a:extLst>
          </p:cNvPr>
          <p:cNvSpPr>
            <a:spLocks xmlns:a="http://schemas.openxmlformats.org/drawingml/2006/main" noGrp="1"/>
          </p:cNvSpPr>
          <p:nvPr/>
        </p:nvSpPr>
        <p:spPr>
          <a:xfrm xmlns:a="http://schemas.openxmlformats.org/drawingml/2006/main">
            <a:off x="2488883" y="1847850"/>
            <a:ext cx="3480435" cy="2040255"/>
          </a:xfrm>
          <a:custGeom xmlns:a="http://schemas.openxmlformats.org/drawingml/2006/main">
            <a:pathLst>
              <a:path w="3480435" h="2040255">
                <a:moveTo>
                  <a:pt x="1740218" y="495245"/>
                </a:moveTo>
                <a:lnTo>
                  <a:pt x="1757468" y="509111"/>
                </a:lnTo>
                <a:lnTo>
                  <a:pt x="1774318" y="523461"/>
                </a:lnTo>
                <a:lnTo>
                  <a:pt x="1790755" y="538283"/>
                </a:lnTo>
                <a:lnTo>
                  <a:pt x="1806764" y="553566"/>
                </a:lnTo>
                <a:lnTo>
                  <a:pt x="1822333" y="569296"/>
                </a:lnTo>
                <a:lnTo>
                  <a:pt x="1837450" y="585462"/>
                </a:lnTo>
                <a:lnTo>
                  <a:pt x="1852102" y="602051"/>
                </a:lnTo>
                <a:lnTo>
                  <a:pt x="1866278" y="619048"/>
                </a:lnTo>
                <a:lnTo>
                  <a:pt x="1879965" y="636440"/>
                </a:lnTo>
                <a:lnTo>
                  <a:pt x="1893154" y="654214"/>
                </a:lnTo>
                <a:lnTo>
                  <a:pt x="1905833" y="672355"/>
                </a:lnTo>
                <a:lnTo>
                  <a:pt x="1917993" y="690848"/>
                </a:lnTo>
                <a:lnTo>
                  <a:pt x="1929623" y="709679"/>
                </a:lnTo>
                <a:lnTo>
                  <a:pt x="1940714" y="728832"/>
                </a:lnTo>
                <a:lnTo>
                  <a:pt x="1951257" y="748292"/>
                </a:lnTo>
                <a:lnTo>
                  <a:pt x="1961244" y="768043"/>
                </a:lnTo>
                <a:lnTo>
                  <a:pt x="1970667" y="788070"/>
                </a:lnTo>
                <a:lnTo>
                  <a:pt x="1979518" y="808356"/>
                </a:lnTo>
                <a:lnTo>
                  <a:pt x="1987789" y="828885"/>
                </a:lnTo>
                <a:lnTo>
                  <a:pt x="1995475" y="849640"/>
                </a:lnTo>
                <a:lnTo>
                  <a:pt x="2002570" y="870605"/>
                </a:lnTo>
                <a:lnTo>
                  <a:pt x="2009066" y="891763"/>
                </a:lnTo>
                <a:lnTo>
                  <a:pt x="2014960" y="913096"/>
                </a:lnTo>
                <a:lnTo>
                  <a:pt x="2020246" y="934588"/>
                </a:lnTo>
                <a:lnTo>
                  <a:pt x="2024920" y="956222"/>
                </a:lnTo>
                <a:lnTo>
                  <a:pt x="2028979" y="977979"/>
                </a:lnTo>
                <a:lnTo>
                  <a:pt x="2032418" y="999843"/>
                </a:lnTo>
                <a:lnTo>
                  <a:pt x="2035237" y="1021795"/>
                </a:lnTo>
                <a:lnTo>
                  <a:pt x="2037431" y="1043819"/>
                </a:lnTo>
                <a:lnTo>
                  <a:pt x="2038999" y="1065896"/>
                </a:lnTo>
                <a:lnTo>
                  <a:pt x="2039941" y="1088008"/>
                </a:lnTo>
                <a:lnTo>
                  <a:pt x="2040255" y="1110139"/>
                </a:lnTo>
                <a:lnTo>
                  <a:pt x="2039941" y="1132269"/>
                </a:lnTo>
                <a:lnTo>
                  <a:pt x="2038999" y="1154382"/>
                </a:lnTo>
                <a:lnTo>
                  <a:pt x="2037431" y="1176459"/>
                </a:lnTo>
                <a:lnTo>
                  <a:pt x="2035237" y="1198482"/>
                </a:lnTo>
                <a:lnTo>
                  <a:pt x="2032418" y="1220435"/>
                </a:lnTo>
                <a:lnTo>
                  <a:pt x="2028979" y="1242299"/>
                </a:lnTo>
                <a:lnTo>
                  <a:pt x="2024920" y="1264056"/>
                </a:lnTo>
                <a:lnTo>
                  <a:pt x="2020246" y="1285689"/>
                </a:lnTo>
                <a:lnTo>
                  <a:pt x="2014960" y="1307181"/>
                </a:lnTo>
                <a:lnTo>
                  <a:pt x="2009066" y="1328515"/>
                </a:lnTo>
                <a:lnTo>
                  <a:pt x="2002570" y="1349673"/>
                </a:lnTo>
                <a:lnTo>
                  <a:pt x="1995475" y="1370638"/>
                </a:lnTo>
                <a:lnTo>
                  <a:pt x="1987789" y="1391393"/>
                </a:lnTo>
                <a:lnTo>
                  <a:pt x="1979518" y="1411922"/>
                </a:lnTo>
                <a:lnTo>
                  <a:pt x="1970667" y="1432207"/>
                </a:lnTo>
                <a:lnTo>
                  <a:pt x="1961244" y="1452234"/>
                </a:lnTo>
                <a:lnTo>
                  <a:pt x="1951257" y="1471985"/>
                </a:lnTo>
                <a:lnTo>
                  <a:pt x="1940714" y="1491445"/>
                </a:lnTo>
                <a:lnTo>
                  <a:pt x="1929623" y="1510599"/>
                </a:lnTo>
                <a:lnTo>
                  <a:pt x="1917993" y="1529429"/>
                </a:lnTo>
                <a:lnTo>
                  <a:pt x="1905833" y="1547923"/>
                </a:lnTo>
                <a:lnTo>
                  <a:pt x="1893154" y="1566063"/>
                </a:lnTo>
                <a:lnTo>
                  <a:pt x="1879965" y="1583837"/>
                </a:lnTo>
                <a:lnTo>
                  <a:pt x="1866278" y="1601230"/>
                </a:lnTo>
                <a:lnTo>
                  <a:pt x="1852102" y="1618227"/>
                </a:lnTo>
                <a:lnTo>
                  <a:pt x="1837450" y="1634815"/>
                </a:lnTo>
                <a:lnTo>
                  <a:pt x="1822333" y="1650981"/>
                </a:lnTo>
                <a:lnTo>
                  <a:pt x="1806764" y="1666712"/>
                </a:lnTo>
                <a:lnTo>
                  <a:pt x="1790755" y="1681994"/>
                </a:lnTo>
                <a:lnTo>
                  <a:pt x="1774318" y="1696816"/>
                </a:lnTo>
                <a:lnTo>
                  <a:pt x="1757468" y="1711166"/>
                </a:lnTo>
                <a:lnTo>
                  <a:pt x="1740218" y="1725033"/>
                </a:lnTo>
                <a:lnTo>
                  <a:pt x="1740218" y="1725033"/>
                </a:lnTo>
                <a:lnTo>
                  <a:pt x="1722967" y="1711166"/>
                </a:lnTo>
                <a:lnTo>
                  <a:pt x="1706117" y="1696816"/>
                </a:lnTo>
                <a:lnTo>
                  <a:pt x="1689680" y="1681994"/>
                </a:lnTo>
                <a:lnTo>
                  <a:pt x="1673671" y="1666712"/>
                </a:lnTo>
                <a:lnTo>
                  <a:pt x="1658102" y="1650981"/>
                </a:lnTo>
                <a:lnTo>
                  <a:pt x="1642985" y="1634815"/>
                </a:lnTo>
                <a:lnTo>
                  <a:pt x="1628333" y="1618227"/>
                </a:lnTo>
                <a:lnTo>
                  <a:pt x="1614157" y="1601230"/>
                </a:lnTo>
                <a:lnTo>
                  <a:pt x="1600470" y="1583837"/>
                </a:lnTo>
                <a:lnTo>
                  <a:pt x="1587281" y="1566063"/>
                </a:lnTo>
                <a:lnTo>
                  <a:pt x="1574602" y="1547923"/>
                </a:lnTo>
                <a:lnTo>
                  <a:pt x="1562442" y="1529429"/>
                </a:lnTo>
                <a:lnTo>
                  <a:pt x="1550812" y="1510599"/>
                </a:lnTo>
                <a:lnTo>
                  <a:pt x="1539721" y="1491445"/>
                </a:lnTo>
                <a:lnTo>
                  <a:pt x="1529178" y="1471985"/>
                </a:lnTo>
                <a:lnTo>
                  <a:pt x="1519191" y="1452234"/>
                </a:lnTo>
                <a:lnTo>
                  <a:pt x="1509768" y="1432207"/>
                </a:lnTo>
                <a:lnTo>
                  <a:pt x="1500917" y="1411922"/>
                </a:lnTo>
                <a:lnTo>
                  <a:pt x="1492646" y="1391393"/>
                </a:lnTo>
                <a:lnTo>
                  <a:pt x="1484960" y="1370638"/>
                </a:lnTo>
                <a:lnTo>
                  <a:pt x="1477865" y="1349673"/>
                </a:lnTo>
                <a:lnTo>
                  <a:pt x="1471369" y="1328515"/>
                </a:lnTo>
                <a:lnTo>
                  <a:pt x="1465475" y="1307181"/>
                </a:lnTo>
                <a:lnTo>
                  <a:pt x="1460189" y="1285689"/>
                </a:lnTo>
                <a:lnTo>
                  <a:pt x="1455515" y="1264056"/>
                </a:lnTo>
                <a:lnTo>
                  <a:pt x="1451456" y="1242299"/>
                </a:lnTo>
                <a:lnTo>
                  <a:pt x="1448017" y="1220435"/>
                </a:lnTo>
                <a:lnTo>
                  <a:pt x="1445198" y="1198482"/>
                </a:lnTo>
                <a:lnTo>
                  <a:pt x="1443004" y="1176459"/>
                </a:lnTo>
                <a:lnTo>
                  <a:pt x="1441436" y="1154382"/>
                </a:lnTo>
                <a:lnTo>
                  <a:pt x="1440494" y="1132269"/>
                </a:lnTo>
                <a:lnTo>
                  <a:pt x="1440180" y="1110139"/>
                </a:lnTo>
                <a:lnTo>
                  <a:pt x="1440494" y="1088008"/>
                </a:lnTo>
                <a:lnTo>
                  <a:pt x="1441436" y="1065896"/>
                </a:lnTo>
                <a:lnTo>
                  <a:pt x="1443004" y="1043819"/>
                </a:lnTo>
                <a:lnTo>
                  <a:pt x="1445198" y="1021795"/>
                </a:lnTo>
                <a:lnTo>
                  <a:pt x="1448017" y="999843"/>
                </a:lnTo>
                <a:lnTo>
                  <a:pt x="1451456" y="977979"/>
                </a:lnTo>
                <a:lnTo>
                  <a:pt x="1455515" y="956222"/>
                </a:lnTo>
                <a:lnTo>
                  <a:pt x="1460189" y="934588"/>
                </a:lnTo>
                <a:lnTo>
                  <a:pt x="1465475" y="913096"/>
                </a:lnTo>
                <a:lnTo>
                  <a:pt x="1471369" y="891763"/>
                </a:lnTo>
                <a:lnTo>
                  <a:pt x="1477865" y="870605"/>
                </a:lnTo>
                <a:lnTo>
                  <a:pt x="1484960" y="849640"/>
                </a:lnTo>
                <a:lnTo>
                  <a:pt x="1492646" y="828885"/>
                </a:lnTo>
                <a:lnTo>
                  <a:pt x="1500917" y="808356"/>
                </a:lnTo>
                <a:lnTo>
                  <a:pt x="1509768" y="788070"/>
                </a:lnTo>
                <a:lnTo>
                  <a:pt x="1519191" y="768043"/>
                </a:lnTo>
                <a:lnTo>
                  <a:pt x="1529178" y="748292"/>
                </a:lnTo>
                <a:lnTo>
                  <a:pt x="1539721" y="728832"/>
                </a:lnTo>
                <a:lnTo>
                  <a:pt x="1550812" y="709679"/>
                </a:lnTo>
                <a:lnTo>
                  <a:pt x="1562442" y="690848"/>
                </a:lnTo>
                <a:lnTo>
                  <a:pt x="1574602" y="672355"/>
                </a:lnTo>
                <a:lnTo>
                  <a:pt x="1587281" y="654214"/>
                </a:lnTo>
                <a:lnTo>
                  <a:pt x="1600470" y="636440"/>
                </a:lnTo>
                <a:lnTo>
                  <a:pt x="1614157" y="619048"/>
                </a:lnTo>
                <a:lnTo>
                  <a:pt x="1628333" y="602051"/>
                </a:lnTo>
                <a:lnTo>
                  <a:pt x="1642985" y="585462"/>
                </a:lnTo>
                <a:lnTo>
                  <a:pt x="1658102" y="569296"/>
                </a:lnTo>
                <a:lnTo>
                  <a:pt x="1673671" y="553566"/>
                </a:lnTo>
                <a:lnTo>
                  <a:pt x="1689680" y="538283"/>
                </a:lnTo>
                <a:lnTo>
                  <a:pt x="1706117" y="523461"/>
                </a:lnTo>
                <a:lnTo>
                  <a:pt x="1722967" y="509111"/>
                </a:lnTo>
                <a:lnTo>
                  <a:pt x="1740218" y="495245"/>
                </a:lnTo>
                <a:close/>
              </a:path>
            </a:pathLst>
          </a:custGeom>
          <a:solidFill xmlns:a="http://schemas.openxmlformats.org/drawingml/2006/main">
            <a:srgbClr val="9ED6E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B3396D-55C6-49EB-B48A-E5CF166371F1}"/>
              </a:ext>
            </a:extLst>
          </p:cNvPr>
          <p:cNvSpPr>
            <a:spLocks xmlns:a="http://schemas.openxmlformats.org/drawingml/2006/main" noGrp="1"/>
          </p:cNvSpPr>
          <p:nvPr/>
        </p:nvSpPr>
        <p:spPr>
          <a:xfrm xmlns:a="http://schemas.openxmlformats.org/drawingml/2006/main">
            <a:off x="2968943" y="2177891"/>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7" name="">
            <a:extLst xmlns:a="http://schemas.openxmlformats.org/drawingml/2006/main">
              <a:ext uri="{FF2B5EF4-FFF2-40B4-BE49-F238E27FC236}">
                <a16:creationId xmlns:a16="http://schemas.microsoft.com/office/drawing/2014/main" id="{06641544-6CC4-4EA3-98CE-1FC542A2F426}"/>
              </a:ext>
            </a:extLst>
          </p:cNvPr>
          <p:cNvSpPr>
            <a:spLocks xmlns:a="http://schemas.openxmlformats.org/drawingml/2006/main" noGrp="1"/>
          </p:cNvSpPr>
          <p:nvPr/>
        </p:nvSpPr>
        <p:spPr>
          <a:xfrm xmlns:a="http://schemas.openxmlformats.org/drawingml/2006/main">
            <a:off x="3929063" y="2177891"/>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8" name="">
            <a:extLst xmlns:a="http://schemas.openxmlformats.org/drawingml/2006/main">
              <a:ext uri="{FF2B5EF4-FFF2-40B4-BE49-F238E27FC236}">
                <a16:creationId xmlns:a16="http://schemas.microsoft.com/office/drawing/2014/main" id="{AFCB8567-070E-46C0-8B1B-672781E3FA3B}"/>
              </a:ext>
            </a:extLst>
          </p:cNvPr>
          <p:cNvSpPr>
            <a:spLocks xmlns:a="http://schemas.openxmlformats.org/drawingml/2006/main" noGrp="1"/>
          </p:cNvSpPr>
          <p:nvPr/>
        </p:nvSpPr>
        <p:spPr>
          <a:xfrm xmlns:a="http://schemas.openxmlformats.org/drawingml/2006/main">
            <a:off x="2500884" y="1907858"/>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Talk keys</a:t>
            </a:r>
          </a:p>
        </p:txBody>
      </p:sp>
      <p:sp>
        <p:nvSpPr>
          <p:cNvPr id="9" name="">
            <a:extLst xmlns:a="http://schemas.openxmlformats.org/drawingml/2006/main">
              <a:ext uri="{FF2B5EF4-FFF2-40B4-BE49-F238E27FC236}">
                <a16:creationId xmlns:a16="http://schemas.microsoft.com/office/drawing/2014/main" id="{A441CDDC-7917-45A2-9998-6BEE3EC0D927}"/>
              </a:ext>
            </a:extLst>
          </p:cNvPr>
          <p:cNvSpPr>
            <a:spLocks xmlns:a="http://schemas.openxmlformats.org/drawingml/2006/main" noGrp="1"/>
          </p:cNvSpPr>
          <p:nvPr/>
        </p:nvSpPr>
        <p:spPr>
          <a:xfrm xmlns:a="http://schemas.openxmlformats.org/drawingml/2006/main">
            <a:off x="4199096" y="1907858"/>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Speaker keys</a:t>
            </a:r>
          </a:p>
        </p:txBody>
      </p:sp>
      <p:sp>
        <p:nvSpPr>
          <p:cNvPr id="10" name="">
            <a:extLst xmlns:a="http://schemas.openxmlformats.org/drawingml/2006/main">
              <a:ext uri="{FF2B5EF4-FFF2-40B4-BE49-F238E27FC236}">
                <a16:creationId xmlns:a16="http://schemas.microsoft.com/office/drawing/2014/main" id="{13400FA2-C666-476B-AED9-67D952499F0F}"/>
              </a:ext>
            </a:extLst>
          </p:cNvPr>
          <p:cNvSpPr>
            <a:spLocks xmlns:a="http://schemas.openxmlformats.org/drawingml/2006/main" noGrp="1"/>
          </p:cNvSpPr>
          <p:nvPr/>
        </p:nvSpPr>
        <p:spPr>
          <a:xfrm xmlns:a="http://schemas.openxmlformats.org/drawingml/2006/main">
            <a:off x="2536889" y="2885980"/>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S3</a:t>
            </a:r>
          </a:p>
        </p:txBody>
      </p:sp>
      <p:sp>
        <p:nvSpPr>
          <p:cNvPr id="11" name="">
            <a:extLst xmlns:a="http://schemas.openxmlformats.org/drawingml/2006/main">
              <a:ext uri="{FF2B5EF4-FFF2-40B4-BE49-F238E27FC236}">
                <a16:creationId xmlns:a16="http://schemas.microsoft.com/office/drawing/2014/main" id="{CA59FDF7-3409-4B70-B34F-5D39B57AE542}"/>
              </a:ext>
            </a:extLst>
          </p:cNvPr>
          <p:cNvSpPr>
            <a:spLocks xmlns:a="http://schemas.openxmlformats.org/drawingml/2006/main" noGrp="1"/>
          </p:cNvSpPr>
          <p:nvPr/>
        </p:nvSpPr>
        <p:spPr>
          <a:xfrm xmlns:a="http://schemas.openxmlformats.org/drawingml/2006/main">
            <a:off x="3388995" y="2777966"/>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S1</a:t>
            </a:r>
          </a:p>
        </p:txBody>
      </p:sp>
      <p:sp>
        <p:nvSpPr>
          <p:cNvPr id="12" name="">
            <a:extLst xmlns:a="http://schemas.openxmlformats.org/drawingml/2006/main">
              <a:ext uri="{FF2B5EF4-FFF2-40B4-BE49-F238E27FC236}">
                <a16:creationId xmlns:a16="http://schemas.microsoft.com/office/drawing/2014/main" id="{F9EDE662-9500-41DF-8A0D-1469086F4282}"/>
              </a:ext>
            </a:extLst>
          </p:cNvPr>
          <p:cNvSpPr>
            <a:spLocks xmlns:a="http://schemas.openxmlformats.org/drawingml/2006/main" noGrp="1"/>
          </p:cNvSpPr>
          <p:nvPr/>
        </p:nvSpPr>
        <p:spPr>
          <a:xfrm xmlns:a="http://schemas.openxmlformats.org/drawingml/2006/main">
            <a:off x="3388995" y="2981992"/>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S2</a:t>
            </a:r>
          </a:p>
        </p:txBody>
      </p:sp>
      <p:sp>
        <p:nvSpPr>
          <p:cNvPr id="13" name="">
            <a:extLst xmlns:a="http://schemas.openxmlformats.org/drawingml/2006/main">
              <a:ext uri="{FF2B5EF4-FFF2-40B4-BE49-F238E27FC236}">
                <a16:creationId xmlns:a16="http://schemas.microsoft.com/office/drawing/2014/main" id="{A08D9AAD-B6CC-4A68-98F1-625CEC4E8E63}"/>
              </a:ext>
            </a:extLst>
          </p:cNvPr>
          <p:cNvSpPr>
            <a:spLocks xmlns:a="http://schemas.openxmlformats.org/drawingml/2006/main" noGrp="1"/>
          </p:cNvSpPr>
          <p:nvPr/>
        </p:nvSpPr>
        <p:spPr>
          <a:xfrm xmlns:a="http://schemas.openxmlformats.org/drawingml/2006/main">
            <a:off x="4289108" y="2885980"/>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S4</a:t>
            </a:r>
          </a:p>
        </p:txBody>
      </p:sp>
      <p:sp>
        <p:nvSpPr>
          <p:cNvPr id="14" name="">
            <a:extLst xmlns:a="http://schemas.openxmlformats.org/drawingml/2006/main">
              <a:ext uri="{FF2B5EF4-FFF2-40B4-BE49-F238E27FC236}">
                <a16:creationId xmlns:a16="http://schemas.microsoft.com/office/drawing/2014/main" id="{2A1A136C-B009-42F6-B0BE-4C4EF7127A86}"/>
              </a:ext>
            </a:extLst>
          </p:cNvPr>
          <p:cNvSpPr>
            <a:spLocks xmlns:a="http://schemas.openxmlformats.org/drawingml/2006/main" noGrp="1"/>
          </p:cNvSpPr>
          <p:nvPr/>
        </p:nvSpPr>
        <p:spPr>
          <a:xfrm xmlns:a="http://schemas.openxmlformats.org/drawingml/2006/main">
            <a:off x="1123950" y="3810000"/>
            <a:ext cx="621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950" b="0">
                <a:solidFill>
                  <a:srgbClr val="20394C"/>
                </a:solidFill>
                <a:latin typeface="DejaVu Sans"/>
                <a:ea typeface="DejaVu Sans"/>
                <a:cs typeface="DejaVu Sans"/>
              </a:defRPr>
            </a:pPr>
            <a:r>
              <a:rPr sz="1950" b="0">
                <a:solidFill>
                  <a:srgbClr val="20394C"/>
                </a:solidFill>
                <a:latin typeface="DejaVu Sans"/>
                <a:ea typeface="DejaVu Sans"/>
                <a:cs typeface="DejaVu Sans"/>
              </a:rPr>
              <a:t>All talk keys: S1, S2, S3</a:t>
            </a:r>
          </a:p>
        </p:txBody>
      </p:sp>
      <p:sp>
        <p:nvSpPr>
          <p:cNvPr id="15" name="">
            <a:extLst xmlns:a="http://schemas.openxmlformats.org/drawingml/2006/main">
              <a:ext uri="{FF2B5EF4-FFF2-40B4-BE49-F238E27FC236}">
                <a16:creationId xmlns:a16="http://schemas.microsoft.com/office/drawing/2014/main" id="{B6442C50-91AE-4DA9-8700-EA02815F9A77}"/>
              </a:ext>
            </a:extLst>
          </p:cNvPr>
          <p:cNvSpPr>
            <a:spLocks xmlns:a="http://schemas.openxmlformats.org/drawingml/2006/main" noGrp="1"/>
          </p:cNvSpPr>
          <p:nvPr/>
        </p:nvSpPr>
        <p:spPr>
          <a:xfrm xmlns:a="http://schemas.openxmlformats.org/drawingml/2006/main">
            <a:off x="8239125" y="1524000"/>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250" b="1">
                <a:solidFill>
                  <a:srgbClr val="002E5D"/>
                </a:solidFill>
                <a:latin typeface="DejaVu Sans"/>
                <a:ea typeface="DejaVu Sans"/>
                <a:cs typeface="DejaVu Sans"/>
              </a:defRPr>
            </a:pPr>
            <a:r>
              <a:rPr sz="2250" b="1">
                <a:solidFill>
                  <a:srgbClr val="002E5D"/>
                </a:solidFill>
                <a:latin typeface="DejaVu Sans"/>
                <a:ea typeface="DejaVu Sans"/>
                <a:cs typeface="DejaVu Sans"/>
              </a:rPr>
              <a:t>Inner join</a:t>
            </a:r>
          </a:p>
        </p:txBody>
      </p:sp>
      <p:sp>
        <p:nvSpPr>
          <p:cNvPr id="16" name="">
            <a:extLst xmlns:a="http://schemas.openxmlformats.org/drawingml/2006/main">
              <a:ext uri="{FF2B5EF4-FFF2-40B4-BE49-F238E27FC236}">
                <a16:creationId xmlns:a16="http://schemas.microsoft.com/office/drawing/2014/main" id="{85F8B7F2-8008-4453-835F-8D052A9C4041}"/>
              </a:ext>
            </a:extLst>
          </p:cNvPr>
          <p:cNvSpPr>
            <a:spLocks xmlns:a="http://schemas.openxmlformats.org/drawingml/2006/main" noGrp="1"/>
          </p:cNvSpPr>
          <p:nvPr/>
        </p:nvSpPr>
        <p:spPr>
          <a:xfrm xmlns:a="http://schemas.openxmlformats.org/drawingml/2006/main">
            <a:off x="9750743" y="2177891"/>
            <a:ext cx="1560195" cy="1560195"/>
          </a:xfrm>
          <a:prstGeom xmlns:a="http://schemas.openxmlformats.org/drawingml/2006/main" prst="ellipse">
            <a:avLst/>
          </a:prstGeom>
          <a:solidFill xmlns:a="http://schemas.openxmlformats.org/drawingml/2006/main">
            <a:srgbClr val="F3F5F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E87C772-E3BB-4D24-9F55-F6238770471D}"/>
              </a:ext>
            </a:extLst>
          </p:cNvPr>
          <p:cNvSpPr>
            <a:spLocks xmlns:a="http://schemas.openxmlformats.org/drawingml/2006/main" noGrp="1"/>
          </p:cNvSpPr>
          <p:nvPr/>
        </p:nvSpPr>
        <p:spPr>
          <a:xfrm xmlns:a="http://schemas.openxmlformats.org/drawingml/2006/main">
            <a:off x="10710863" y="2177891"/>
            <a:ext cx="1560195" cy="1560195"/>
          </a:xfrm>
          <a:prstGeom xmlns:a="http://schemas.openxmlformats.org/drawingml/2006/main" prst="ellipse">
            <a:avLst/>
          </a:prstGeom>
          <a:solidFill xmlns:a="http://schemas.openxmlformats.org/drawingml/2006/main">
            <a:srgbClr val="F3F5F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C71A8F-987B-4583-A067-723A8324B6F5}"/>
              </a:ext>
            </a:extLst>
          </p:cNvPr>
          <p:cNvSpPr>
            <a:spLocks xmlns:a="http://schemas.openxmlformats.org/drawingml/2006/main" noGrp="1"/>
          </p:cNvSpPr>
          <p:nvPr/>
        </p:nvSpPr>
        <p:spPr>
          <a:xfrm xmlns:a="http://schemas.openxmlformats.org/drawingml/2006/main">
            <a:off x="9270683" y="1847850"/>
            <a:ext cx="3480435" cy="2040255"/>
          </a:xfrm>
          <a:custGeom xmlns:a="http://schemas.openxmlformats.org/drawingml/2006/main">
            <a:pathLst>
              <a:path w="3480435" h="2040255">
                <a:moveTo>
                  <a:pt x="1740218" y="495245"/>
                </a:moveTo>
                <a:lnTo>
                  <a:pt x="1757468" y="509111"/>
                </a:lnTo>
                <a:lnTo>
                  <a:pt x="1774318" y="523461"/>
                </a:lnTo>
                <a:lnTo>
                  <a:pt x="1790755" y="538283"/>
                </a:lnTo>
                <a:lnTo>
                  <a:pt x="1806764" y="553566"/>
                </a:lnTo>
                <a:lnTo>
                  <a:pt x="1822333" y="569296"/>
                </a:lnTo>
                <a:lnTo>
                  <a:pt x="1837450" y="585462"/>
                </a:lnTo>
                <a:lnTo>
                  <a:pt x="1852102" y="602051"/>
                </a:lnTo>
                <a:lnTo>
                  <a:pt x="1866278" y="619048"/>
                </a:lnTo>
                <a:lnTo>
                  <a:pt x="1879965" y="636440"/>
                </a:lnTo>
                <a:lnTo>
                  <a:pt x="1893154" y="654214"/>
                </a:lnTo>
                <a:lnTo>
                  <a:pt x="1905833" y="672355"/>
                </a:lnTo>
                <a:lnTo>
                  <a:pt x="1917993" y="690848"/>
                </a:lnTo>
                <a:lnTo>
                  <a:pt x="1929623" y="709679"/>
                </a:lnTo>
                <a:lnTo>
                  <a:pt x="1940714" y="728832"/>
                </a:lnTo>
                <a:lnTo>
                  <a:pt x="1951257" y="748292"/>
                </a:lnTo>
                <a:lnTo>
                  <a:pt x="1961244" y="768043"/>
                </a:lnTo>
                <a:lnTo>
                  <a:pt x="1970667" y="788070"/>
                </a:lnTo>
                <a:lnTo>
                  <a:pt x="1979518" y="808356"/>
                </a:lnTo>
                <a:lnTo>
                  <a:pt x="1987789" y="828885"/>
                </a:lnTo>
                <a:lnTo>
                  <a:pt x="1995475" y="849640"/>
                </a:lnTo>
                <a:lnTo>
                  <a:pt x="2002570" y="870605"/>
                </a:lnTo>
                <a:lnTo>
                  <a:pt x="2009066" y="891763"/>
                </a:lnTo>
                <a:lnTo>
                  <a:pt x="2014960" y="913096"/>
                </a:lnTo>
                <a:lnTo>
                  <a:pt x="2020246" y="934588"/>
                </a:lnTo>
                <a:lnTo>
                  <a:pt x="2024920" y="956222"/>
                </a:lnTo>
                <a:lnTo>
                  <a:pt x="2028979" y="977979"/>
                </a:lnTo>
                <a:lnTo>
                  <a:pt x="2032418" y="999843"/>
                </a:lnTo>
                <a:lnTo>
                  <a:pt x="2035237" y="1021795"/>
                </a:lnTo>
                <a:lnTo>
                  <a:pt x="2037431" y="1043819"/>
                </a:lnTo>
                <a:lnTo>
                  <a:pt x="2038999" y="1065896"/>
                </a:lnTo>
                <a:lnTo>
                  <a:pt x="2039941" y="1088008"/>
                </a:lnTo>
                <a:lnTo>
                  <a:pt x="2040255" y="1110139"/>
                </a:lnTo>
                <a:lnTo>
                  <a:pt x="2039941" y="1132269"/>
                </a:lnTo>
                <a:lnTo>
                  <a:pt x="2038999" y="1154382"/>
                </a:lnTo>
                <a:lnTo>
                  <a:pt x="2037431" y="1176459"/>
                </a:lnTo>
                <a:lnTo>
                  <a:pt x="2035237" y="1198482"/>
                </a:lnTo>
                <a:lnTo>
                  <a:pt x="2032418" y="1220435"/>
                </a:lnTo>
                <a:lnTo>
                  <a:pt x="2028979" y="1242299"/>
                </a:lnTo>
                <a:lnTo>
                  <a:pt x="2024920" y="1264056"/>
                </a:lnTo>
                <a:lnTo>
                  <a:pt x="2020246" y="1285689"/>
                </a:lnTo>
                <a:lnTo>
                  <a:pt x="2014960" y="1307181"/>
                </a:lnTo>
                <a:lnTo>
                  <a:pt x="2009066" y="1328515"/>
                </a:lnTo>
                <a:lnTo>
                  <a:pt x="2002570" y="1349673"/>
                </a:lnTo>
                <a:lnTo>
                  <a:pt x="1995475" y="1370638"/>
                </a:lnTo>
                <a:lnTo>
                  <a:pt x="1987789" y="1391393"/>
                </a:lnTo>
                <a:lnTo>
                  <a:pt x="1979518" y="1411922"/>
                </a:lnTo>
                <a:lnTo>
                  <a:pt x="1970667" y="1432207"/>
                </a:lnTo>
                <a:lnTo>
                  <a:pt x="1961244" y="1452234"/>
                </a:lnTo>
                <a:lnTo>
                  <a:pt x="1951257" y="1471985"/>
                </a:lnTo>
                <a:lnTo>
                  <a:pt x="1940714" y="1491445"/>
                </a:lnTo>
                <a:lnTo>
                  <a:pt x="1929623" y="1510599"/>
                </a:lnTo>
                <a:lnTo>
                  <a:pt x="1917993" y="1529429"/>
                </a:lnTo>
                <a:lnTo>
                  <a:pt x="1905833" y="1547923"/>
                </a:lnTo>
                <a:lnTo>
                  <a:pt x="1893154" y="1566063"/>
                </a:lnTo>
                <a:lnTo>
                  <a:pt x="1879965" y="1583837"/>
                </a:lnTo>
                <a:lnTo>
                  <a:pt x="1866278" y="1601230"/>
                </a:lnTo>
                <a:lnTo>
                  <a:pt x="1852102" y="1618227"/>
                </a:lnTo>
                <a:lnTo>
                  <a:pt x="1837450" y="1634815"/>
                </a:lnTo>
                <a:lnTo>
                  <a:pt x="1822333" y="1650981"/>
                </a:lnTo>
                <a:lnTo>
                  <a:pt x="1806764" y="1666712"/>
                </a:lnTo>
                <a:lnTo>
                  <a:pt x="1790755" y="1681994"/>
                </a:lnTo>
                <a:lnTo>
                  <a:pt x="1774318" y="1696816"/>
                </a:lnTo>
                <a:lnTo>
                  <a:pt x="1757468" y="1711166"/>
                </a:lnTo>
                <a:lnTo>
                  <a:pt x="1740218" y="1725033"/>
                </a:lnTo>
                <a:lnTo>
                  <a:pt x="1740218" y="1725033"/>
                </a:lnTo>
                <a:lnTo>
                  <a:pt x="1722967" y="1711166"/>
                </a:lnTo>
                <a:lnTo>
                  <a:pt x="1706117" y="1696816"/>
                </a:lnTo>
                <a:lnTo>
                  <a:pt x="1689680" y="1681994"/>
                </a:lnTo>
                <a:lnTo>
                  <a:pt x="1673671" y="1666712"/>
                </a:lnTo>
                <a:lnTo>
                  <a:pt x="1658102" y="1650981"/>
                </a:lnTo>
                <a:lnTo>
                  <a:pt x="1642985" y="1634815"/>
                </a:lnTo>
                <a:lnTo>
                  <a:pt x="1628333" y="1618227"/>
                </a:lnTo>
                <a:lnTo>
                  <a:pt x="1614157" y="1601230"/>
                </a:lnTo>
                <a:lnTo>
                  <a:pt x="1600470" y="1583837"/>
                </a:lnTo>
                <a:lnTo>
                  <a:pt x="1587281" y="1566063"/>
                </a:lnTo>
                <a:lnTo>
                  <a:pt x="1574602" y="1547923"/>
                </a:lnTo>
                <a:lnTo>
                  <a:pt x="1562442" y="1529429"/>
                </a:lnTo>
                <a:lnTo>
                  <a:pt x="1550812" y="1510599"/>
                </a:lnTo>
                <a:lnTo>
                  <a:pt x="1539721" y="1491445"/>
                </a:lnTo>
                <a:lnTo>
                  <a:pt x="1529178" y="1471985"/>
                </a:lnTo>
                <a:lnTo>
                  <a:pt x="1519191" y="1452234"/>
                </a:lnTo>
                <a:lnTo>
                  <a:pt x="1509768" y="1432207"/>
                </a:lnTo>
                <a:lnTo>
                  <a:pt x="1500917" y="1411922"/>
                </a:lnTo>
                <a:lnTo>
                  <a:pt x="1492646" y="1391393"/>
                </a:lnTo>
                <a:lnTo>
                  <a:pt x="1484960" y="1370638"/>
                </a:lnTo>
                <a:lnTo>
                  <a:pt x="1477865" y="1349673"/>
                </a:lnTo>
                <a:lnTo>
                  <a:pt x="1471369" y="1328515"/>
                </a:lnTo>
                <a:lnTo>
                  <a:pt x="1465475" y="1307181"/>
                </a:lnTo>
                <a:lnTo>
                  <a:pt x="1460189" y="1285689"/>
                </a:lnTo>
                <a:lnTo>
                  <a:pt x="1455515" y="1264056"/>
                </a:lnTo>
                <a:lnTo>
                  <a:pt x="1451456" y="1242299"/>
                </a:lnTo>
                <a:lnTo>
                  <a:pt x="1448017" y="1220435"/>
                </a:lnTo>
                <a:lnTo>
                  <a:pt x="1445198" y="1198482"/>
                </a:lnTo>
                <a:lnTo>
                  <a:pt x="1443004" y="1176459"/>
                </a:lnTo>
                <a:lnTo>
                  <a:pt x="1441436" y="1154382"/>
                </a:lnTo>
                <a:lnTo>
                  <a:pt x="1440494" y="1132269"/>
                </a:lnTo>
                <a:lnTo>
                  <a:pt x="1440180" y="1110139"/>
                </a:lnTo>
                <a:lnTo>
                  <a:pt x="1440494" y="1088008"/>
                </a:lnTo>
                <a:lnTo>
                  <a:pt x="1441436" y="1065896"/>
                </a:lnTo>
                <a:lnTo>
                  <a:pt x="1443004" y="1043819"/>
                </a:lnTo>
                <a:lnTo>
                  <a:pt x="1445198" y="1021795"/>
                </a:lnTo>
                <a:lnTo>
                  <a:pt x="1448017" y="999843"/>
                </a:lnTo>
                <a:lnTo>
                  <a:pt x="1451456" y="977979"/>
                </a:lnTo>
                <a:lnTo>
                  <a:pt x="1455515" y="956222"/>
                </a:lnTo>
                <a:lnTo>
                  <a:pt x="1460189" y="934588"/>
                </a:lnTo>
                <a:lnTo>
                  <a:pt x="1465475" y="913096"/>
                </a:lnTo>
                <a:lnTo>
                  <a:pt x="1471369" y="891763"/>
                </a:lnTo>
                <a:lnTo>
                  <a:pt x="1477865" y="870605"/>
                </a:lnTo>
                <a:lnTo>
                  <a:pt x="1484960" y="849640"/>
                </a:lnTo>
                <a:lnTo>
                  <a:pt x="1492646" y="828885"/>
                </a:lnTo>
                <a:lnTo>
                  <a:pt x="1500917" y="808356"/>
                </a:lnTo>
                <a:lnTo>
                  <a:pt x="1509768" y="788070"/>
                </a:lnTo>
                <a:lnTo>
                  <a:pt x="1519191" y="768043"/>
                </a:lnTo>
                <a:lnTo>
                  <a:pt x="1529178" y="748292"/>
                </a:lnTo>
                <a:lnTo>
                  <a:pt x="1539721" y="728832"/>
                </a:lnTo>
                <a:lnTo>
                  <a:pt x="1550812" y="709679"/>
                </a:lnTo>
                <a:lnTo>
                  <a:pt x="1562442" y="690848"/>
                </a:lnTo>
                <a:lnTo>
                  <a:pt x="1574602" y="672355"/>
                </a:lnTo>
                <a:lnTo>
                  <a:pt x="1587281" y="654214"/>
                </a:lnTo>
                <a:lnTo>
                  <a:pt x="1600470" y="636440"/>
                </a:lnTo>
                <a:lnTo>
                  <a:pt x="1614157" y="619048"/>
                </a:lnTo>
                <a:lnTo>
                  <a:pt x="1628333" y="602051"/>
                </a:lnTo>
                <a:lnTo>
                  <a:pt x="1642985" y="585462"/>
                </a:lnTo>
                <a:lnTo>
                  <a:pt x="1658102" y="569296"/>
                </a:lnTo>
                <a:lnTo>
                  <a:pt x="1673671" y="553566"/>
                </a:lnTo>
                <a:lnTo>
                  <a:pt x="1689680" y="538283"/>
                </a:lnTo>
                <a:lnTo>
                  <a:pt x="1706117" y="523461"/>
                </a:lnTo>
                <a:lnTo>
                  <a:pt x="1722967" y="509111"/>
                </a:lnTo>
                <a:lnTo>
                  <a:pt x="1740218" y="495245"/>
                </a:lnTo>
                <a:close/>
              </a:path>
            </a:pathLst>
          </a:custGeom>
          <a:solidFill xmlns:a="http://schemas.openxmlformats.org/drawingml/2006/main">
            <a:srgbClr val="9ED6E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D9C0E1A-AEE0-450F-9408-0B10F1B420F9}"/>
              </a:ext>
            </a:extLst>
          </p:cNvPr>
          <p:cNvSpPr>
            <a:spLocks xmlns:a="http://schemas.openxmlformats.org/drawingml/2006/main" noGrp="1"/>
          </p:cNvSpPr>
          <p:nvPr/>
        </p:nvSpPr>
        <p:spPr>
          <a:xfrm xmlns:a="http://schemas.openxmlformats.org/drawingml/2006/main">
            <a:off x="9750743" y="2177891"/>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20" name="">
            <a:extLst xmlns:a="http://schemas.openxmlformats.org/drawingml/2006/main">
              <a:ext uri="{FF2B5EF4-FFF2-40B4-BE49-F238E27FC236}">
                <a16:creationId xmlns:a16="http://schemas.microsoft.com/office/drawing/2014/main" id="{314A5658-BD75-4339-A879-F8700A6C0003}"/>
              </a:ext>
            </a:extLst>
          </p:cNvPr>
          <p:cNvSpPr>
            <a:spLocks xmlns:a="http://schemas.openxmlformats.org/drawingml/2006/main" noGrp="1"/>
          </p:cNvSpPr>
          <p:nvPr/>
        </p:nvSpPr>
        <p:spPr>
          <a:xfrm xmlns:a="http://schemas.openxmlformats.org/drawingml/2006/main">
            <a:off x="10710863" y="2177891"/>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21" name="">
            <a:extLst xmlns:a="http://schemas.openxmlformats.org/drawingml/2006/main">
              <a:ext uri="{FF2B5EF4-FFF2-40B4-BE49-F238E27FC236}">
                <a16:creationId xmlns:a16="http://schemas.microsoft.com/office/drawing/2014/main" id="{EE381F11-E388-435A-815A-3A9F512A621D}"/>
              </a:ext>
            </a:extLst>
          </p:cNvPr>
          <p:cNvSpPr>
            <a:spLocks xmlns:a="http://schemas.openxmlformats.org/drawingml/2006/main" noGrp="1"/>
          </p:cNvSpPr>
          <p:nvPr/>
        </p:nvSpPr>
        <p:spPr>
          <a:xfrm xmlns:a="http://schemas.openxmlformats.org/drawingml/2006/main">
            <a:off x="9282684" y="1907858"/>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Talk keys</a:t>
            </a:r>
          </a:p>
        </p:txBody>
      </p:sp>
      <p:sp>
        <p:nvSpPr>
          <p:cNvPr id="22" name="">
            <a:extLst xmlns:a="http://schemas.openxmlformats.org/drawingml/2006/main">
              <a:ext uri="{FF2B5EF4-FFF2-40B4-BE49-F238E27FC236}">
                <a16:creationId xmlns:a16="http://schemas.microsoft.com/office/drawing/2014/main" id="{6EC985BF-A7DD-4E12-BB6D-FA1408EE626B}"/>
              </a:ext>
            </a:extLst>
          </p:cNvPr>
          <p:cNvSpPr>
            <a:spLocks xmlns:a="http://schemas.openxmlformats.org/drawingml/2006/main" noGrp="1"/>
          </p:cNvSpPr>
          <p:nvPr/>
        </p:nvSpPr>
        <p:spPr>
          <a:xfrm xmlns:a="http://schemas.openxmlformats.org/drawingml/2006/main">
            <a:off x="10980896" y="1907858"/>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Speaker keys</a:t>
            </a:r>
          </a:p>
        </p:txBody>
      </p:sp>
      <p:sp>
        <p:nvSpPr>
          <p:cNvPr id="23" name="">
            <a:extLst xmlns:a="http://schemas.openxmlformats.org/drawingml/2006/main">
              <a:ext uri="{FF2B5EF4-FFF2-40B4-BE49-F238E27FC236}">
                <a16:creationId xmlns:a16="http://schemas.microsoft.com/office/drawing/2014/main" id="{F2C68B46-8A90-4781-86EA-3F565A71771F}"/>
              </a:ext>
            </a:extLst>
          </p:cNvPr>
          <p:cNvSpPr>
            <a:spLocks xmlns:a="http://schemas.openxmlformats.org/drawingml/2006/main" noGrp="1"/>
          </p:cNvSpPr>
          <p:nvPr/>
        </p:nvSpPr>
        <p:spPr>
          <a:xfrm xmlns:a="http://schemas.openxmlformats.org/drawingml/2006/main">
            <a:off x="9318689" y="2885980"/>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S3</a:t>
            </a:r>
          </a:p>
        </p:txBody>
      </p:sp>
      <p:sp>
        <p:nvSpPr>
          <p:cNvPr id="24" name="">
            <a:extLst xmlns:a="http://schemas.openxmlformats.org/drawingml/2006/main">
              <a:ext uri="{FF2B5EF4-FFF2-40B4-BE49-F238E27FC236}">
                <a16:creationId xmlns:a16="http://schemas.microsoft.com/office/drawing/2014/main" id="{27398BBB-522E-4DDE-BAFB-43E6A16EE045}"/>
              </a:ext>
            </a:extLst>
          </p:cNvPr>
          <p:cNvSpPr>
            <a:spLocks xmlns:a="http://schemas.openxmlformats.org/drawingml/2006/main" noGrp="1"/>
          </p:cNvSpPr>
          <p:nvPr/>
        </p:nvSpPr>
        <p:spPr>
          <a:xfrm xmlns:a="http://schemas.openxmlformats.org/drawingml/2006/main">
            <a:off x="10170795" y="2777966"/>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S1</a:t>
            </a:r>
          </a:p>
        </p:txBody>
      </p:sp>
      <p:sp>
        <p:nvSpPr>
          <p:cNvPr id="25" name="">
            <a:extLst xmlns:a="http://schemas.openxmlformats.org/drawingml/2006/main">
              <a:ext uri="{FF2B5EF4-FFF2-40B4-BE49-F238E27FC236}">
                <a16:creationId xmlns:a16="http://schemas.microsoft.com/office/drawing/2014/main" id="{F3EB7DE3-6A55-4512-BFDE-11700D1DEDA5}"/>
              </a:ext>
            </a:extLst>
          </p:cNvPr>
          <p:cNvSpPr>
            <a:spLocks xmlns:a="http://schemas.openxmlformats.org/drawingml/2006/main" noGrp="1"/>
          </p:cNvSpPr>
          <p:nvPr/>
        </p:nvSpPr>
        <p:spPr>
          <a:xfrm xmlns:a="http://schemas.openxmlformats.org/drawingml/2006/main">
            <a:off x="10170795" y="2981992"/>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S2</a:t>
            </a:r>
          </a:p>
        </p:txBody>
      </p:sp>
      <p:sp>
        <p:nvSpPr>
          <p:cNvPr id="26" name="">
            <a:extLst xmlns:a="http://schemas.openxmlformats.org/drawingml/2006/main">
              <a:ext uri="{FF2B5EF4-FFF2-40B4-BE49-F238E27FC236}">
                <a16:creationId xmlns:a16="http://schemas.microsoft.com/office/drawing/2014/main" id="{79B024B6-3DA9-4D78-A625-18DA20512B2B}"/>
              </a:ext>
            </a:extLst>
          </p:cNvPr>
          <p:cNvSpPr>
            <a:spLocks xmlns:a="http://schemas.openxmlformats.org/drawingml/2006/main" noGrp="1"/>
          </p:cNvSpPr>
          <p:nvPr/>
        </p:nvSpPr>
        <p:spPr>
          <a:xfrm xmlns:a="http://schemas.openxmlformats.org/drawingml/2006/main">
            <a:off x="11070908" y="2885980"/>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S4</a:t>
            </a:r>
          </a:p>
        </p:txBody>
      </p:sp>
      <p:sp>
        <p:nvSpPr>
          <p:cNvPr id="27" name="">
            <a:extLst xmlns:a="http://schemas.openxmlformats.org/drawingml/2006/main">
              <a:ext uri="{FF2B5EF4-FFF2-40B4-BE49-F238E27FC236}">
                <a16:creationId xmlns:a16="http://schemas.microsoft.com/office/drawing/2014/main" id="{5DE50719-EB66-499F-916A-8607DE6C4F68}"/>
              </a:ext>
            </a:extLst>
          </p:cNvPr>
          <p:cNvSpPr>
            <a:spLocks xmlns:a="http://schemas.openxmlformats.org/drawingml/2006/main" noGrp="1"/>
          </p:cNvSpPr>
          <p:nvPr/>
        </p:nvSpPr>
        <p:spPr>
          <a:xfrm xmlns:a="http://schemas.openxmlformats.org/drawingml/2006/main">
            <a:off x="7905750" y="3810000"/>
            <a:ext cx="621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950" b="0">
                <a:solidFill>
                  <a:srgbClr val="20394C"/>
                </a:solidFill>
                <a:latin typeface="DejaVu Sans"/>
                <a:ea typeface="DejaVu Sans"/>
                <a:cs typeface="DejaVu Sans"/>
              </a:defRPr>
            </a:pPr>
            <a:r>
              <a:rPr sz="1950" b="0">
                <a:solidFill>
                  <a:srgbClr val="20394C"/>
                </a:solidFill>
                <a:latin typeface="DejaVu Sans"/>
                <a:ea typeface="DejaVu Sans"/>
                <a:cs typeface="DejaVu Sans"/>
              </a:rPr>
              <a:t>Shared keys: S1, S2</a:t>
            </a:r>
          </a:p>
        </p:txBody>
      </p:sp>
      <p:sp>
        <p:nvSpPr>
          <p:cNvPr id="28" name="">
            <a:extLst xmlns:a="http://schemas.openxmlformats.org/drawingml/2006/main">
              <a:ext uri="{FF2B5EF4-FFF2-40B4-BE49-F238E27FC236}">
                <a16:creationId xmlns:a16="http://schemas.microsoft.com/office/drawing/2014/main" id="{8AF8A551-B439-4F27-BF1C-1BBAADBDB129}"/>
              </a:ext>
            </a:extLst>
          </p:cNvPr>
          <p:cNvSpPr>
            <a:spLocks xmlns:a="http://schemas.openxmlformats.org/drawingml/2006/main" noGrp="1"/>
          </p:cNvSpPr>
          <p:nvPr/>
        </p:nvSpPr>
        <p:spPr>
          <a:xfrm xmlns:a="http://schemas.openxmlformats.org/drawingml/2006/main">
            <a:off x="1457325" y="4143375"/>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250" b="1">
                <a:solidFill>
                  <a:srgbClr val="002E5D"/>
                </a:solidFill>
                <a:latin typeface="DejaVu Sans"/>
                <a:ea typeface="DejaVu Sans"/>
                <a:cs typeface="DejaVu Sans"/>
              </a:defRPr>
            </a:pPr>
            <a:r>
              <a:rPr sz="2250" b="1">
                <a:solidFill>
                  <a:srgbClr val="002E5D"/>
                </a:solidFill>
                <a:latin typeface="DejaVu Sans"/>
                <a:ea typeface="DejaVu Sans"/>
                <a:cs typeface="DejaVu Sans"/>
              </a:rPr>
              <a:t>Right join</a:t>
            </a:r>
          </a:p>
        </p:txBody>
      </p:sp>
      <p:sp>
        <p:nvSpPr>
          <p:cNvPr id="29" name="">
            <a:extLst xmlns:a="http://schemas.openxmlformats.org/drawingml/2006/main">
              <a:ext uri="{FF2B5EF4-FFF2-40B4-BE49-F238E27FC236}">
                <a16:creationId xmlns:a16="http://schemas.microsoft.com/office/drawing/2014/main" id="{BD0292D9-7D1C-468E-8493-35A82CC740BE}"/>
              </a:ext>
            </a:extLst>
          </p:cNvPr>
          <p:cNvSpPr>
            <a:spLocks xmlns:a="http://schemas.openxmlformats.org/drawingml/2006/main" noGrp="1"/>
          </p:cNvSpPr>
          <p:nvPr/>
        </p:nvSpPr>
        <p:spPr>
          <a:xfrm xmlns:a="http://schemas.openxmlformats.org/drawingml/2006/main">
            <a:off x="2968943" y="4797266"/>
            <a:ext cx="1560195" cy="1560195"/>
          </a:xfrm>
          <a:prstGeom xmlns:a="http://schemas.openxmlformats.org/drawingml/2006/main" prst="ellipse">
            <a:avLst/>
          </a:prstGeom>
          <a:solidFill xmlns:a="http://schemas.openxmlformats.org/drawingml/2006/main">
            <a:srgbClr val="F3F5F7"/>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2008A40-A351-45BE-BF3F-BF68DF22C297}"/>
              </a:ext>
            </a:extLst>
          </p:cNvPr>
          <p:cNvSpPr>
            <a:spLocks xmlns:a="http://schemas.openxmlformats.org/drawingml/2006/main" noGrp="1"/>
          </p:cNvSpPr>
          <p:nvPr/>
        </p:nvSpPr>
        <p:spPr>
          <a:xfrm xmlns:a="http://schemas.openxmlformats.org/drawingml/2006/main">
            <a:off x="3929063" y="4797266"/>
            <a:ext cx="1560195" cy="1560195"/>
          </a:xfrm>
          <a:prstGeom xmlns:a="http://schemas.openxmlformats.org/drawingml/2006/main" prst="ellipse">
            <a:avLst/>
          </a:prstGeom>
          <a:solidFill xmlns:a="http://schemas.openxmlformats.org/drawingml/2006/main">
            <a:srgbClr val="9ED6E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D40B5B4-8898-474F-A2DF-27897B164417}"/>
              </a:ext>
            </a:extLst>
          </p:cNvPr>
          <p:cNvSpPr>
            <a:spLocks xmlns:a="http://schemas.openxmlformats.org/drawingml/2006/main" noGrp="1"/>
          </p:cNvSpPr>
          <p:nvPr/>
        </p:nvSpPr>
        <p:spPr>
          <a:xfrm xmlns:a="http://schemas.openxmlformats.org/drawingml/2006/main">
            <a:off x="2488883" y="4467225"/>
            <a:ext cx="3480435" cy="2040255"/>
          </a:xfrm>
          <a:custGeom xmlns:a="http://schemas.openxmlformats.org/drawingml/2006/main">
            <a:pathLst>
              <a:path w="3480435" h="2040255">
                <a:moveTo>
                  <a:pt x="1740218" y="495245"/>
                </a:moveTo>
                <a:lnTo>
                  <a:pt x="1757468" y="509111"/>
                </a:lnTo>
                <a:lnTo>
                  <a:pt x="1774318" y="523461"/>
                </a:lnTo>
                <a:lnTo>
                  <a:pt x="1790755" y="538283"/>
                </a:lnTo>
                <a:lnTo>
                  <a:pt x="1806764" y="553566"/>
                </a:lnTo>
                <a:lnTo>
                  <a:pt x="1822333" y="569296"/>
                </a:lnTo>
                <a:lnTo>
                  <a:pt x="1837450" y="585462"/>
                </a:lnTo>
                <a:lnTo>
                  <a:pt x="1852102" y="602051"/>
                </a:lnTo>
                <a:lnTo>
                  <a:pt x="1866278" y="619048"/>
                </a:lnTo>
                <a:lnTo>
                  <a:pt x="1879965" y="636440"/>
                </a:lnTo>
                <a:lnTo>
                  <a:pt x="1893154" y="654214"/>
                </a:lnTo>
                <a:lnTo>
                  <a:pt x="1905833" y="672355"/>
                </a:lnTo>
                <a:lnTo>
                  <a:pt x="1917993" y="690848"/>
                </a:lnTo>
                <a:lnTo>
                  <a:pt x="1929623" y="709679"/>
                </a:lnTo>
                <a:lnTo>
                  <a:pt x="1940714" y="728832"/>
                </a:lnTo>
                <a:lnTo>
                  <a:pt x="1951257" y="748292"/>
                </a:lnTo>
                <a:lnTo>
                  <a:pt x="1961244" y="768043"/>
                </a:lnTo>
                <a:lnTo>
                  <a:pt x="1970667" y="788070"/>
                </a:lnTo>
                <a:lnTo>
                  <a:pt x="1979518" y="808356"/>
                </a:lnTo>
                <a:lnTo>
                  <a:pt x="1987789" y="828885"/>
                </a:lnTo>
                <a:lnTo>
                  <a:pt x="1995475" y="849640"/>
                </a:lnTo>
                <a:lnTo>
                  <a:pt x="2002570" y="870605"/>
                </a:lnTo>
                <a:lnTo>
                  <a:pt x="2009066" y="891763"/>
                </a:lnTo>
                <a:lnTo>
                  <a:pt x="2014960" y="913096"/>
                </a:lnTo>
                <a:lnTo>
                  <a:pt x="2020246" y="934588"/>
                </a:lnTo>
                <a:lnTo>
                  <a:pt x="2024920" y="956222"/>
                </a:lnTo>
                <a:lnTo>
                  <a:pt x="2028979" y="977979"/>
                </a:lnTo>
                <a:lnTo>
                  <a:pt x="2032418" y="999843"/>
                </a:lnTo>
                <a:lnTo>
                  <a:pt x="2035237" y="1021795"/>
                </a:lnTo>
                <a:lnTo>
                  <a:pt x="2037431" y="1043819"/>
                </a:lnTo>
                <a:lnTo>
                  <a:pt x="2038999" y="1065896"/>
                </a:lnTo>
                <a:lnTo>
                  <a:pt x="2039941" y="1088008"/>
                </a:lnTo>
                <a:lnTo>
                  <a:pt x="2040255" y="1110139"/>
                </a:lnTo>
                <a:lnTo>
                  <a:pt x="2039941" y="1132269"/>
                </a:lnTo>
                <a:lnTo>
                  <a:pt x="2038999" y="1154382"/>
                </a:lnTo>
                <a:lnTo>
                  <a:pt x="2037431" y="1176459"/>
                </a:lnTo>
                <a:lnTo>
                  <a:pt x="2035237" y="1198482"/>
                </a:lnTo>
                <a:lnTo>
                  <a:pt x="2032418" y="1220435"/>
                </a:lnTo>
                <a:lnTo>
                  <a:pt x="2028979" y="1242299"/>
                </a:lnTo>
                <a:lnTo>
                  <a:pt x="2024920" y="1264056"/>
                </a:lnTo>
                <a:lnTo>
                  <a:pt x="2020246" y="1285689"/>
                </a:lnTo>
                <a:lnTo>
                  <a:pt x="2014960" y="1307181"/>
                </a:lnTo>
                <a:lnTo>
                  <a:pt x="2009066" y="1328515"/>
                </a:lnTo>
                <a:lnTo>
                  <a:pt x="2002570" y="1349673"/>
                </a:lnTo>
                <a:lnTo>
                  <a:pt x="1995475" y="1370638"/>
                </a:lnTo>
                <a:lnTo>
                  <a:pt x="1987789" y="1391393"/>
                </a:lnTo>
                <a:lnTo>
                  <a:pt x="1979518" y="1411922"/>
                </a:lnTo>
                <a:lnTo>
                  <a:pt x="1970667" y="1432207"/>
                </a:lnTo>
                <a:lnTo>
                  <a:pt x="1961244" y="1452234"/>
                </a:lnTo>
                <a:lnTo>
                  <a:pt x="1951257" y="1471985"/>
                </a:lnTo>
                <a:lnTo>
                  <a:pt x="1940714" y="1491445"/>
                </a:lnTo>
                <a:lnTo>
                  <a:pt x="1929623" y="1510599"/>
                </a:lnTo>
                <a:lnTo>
                  <a:pt x="1917993" y="1529429"/>
                </a:lnTo>
                <a:lnTo>
                  <a:pt x="1905833" y="1547923"/>
                </a:lnTo>
                <a:lnTo>
                  <a:pt x="1893154" y="1566063"/>
                </a:lnTo>
                <a:lnTo>
                  <a:pt x="1879965" y="1583837"/>
                </a:lnTo>
                <a:lnTo>
                  <a:pt x="1866278" y="1601230"/>
                </a:lnTo>
                <a:lnTo>
                  <a:pt x="1852102" y="1618227"/>
                </a:lnTo>
                <a:lnTo>
                  <a:pt x="1837450" y="1634815"/>
                </a:lnTo>
                <a:lnTo>
                  <a:pt x="1822333" y="1650981"/>
                </a:lnTo>
                <a:lnTo>
                  <a:pt x="1806764" y="1666712"/>
                </a:lnTo>
                <a:lnTo>
                  <a:pt x="1790755" y="1681994"/>
                </a:lnTo>
                <a:lnTo>
                  <a:pt x="1774318" y="1696816"/>
                </a:lnTo>
                <a:lnTo>
                  <a:pt x="1757468" y="1711166"/>
                </a:lnTo>
                <a:lnTo>
                  <a:pt x="1740218" y="1725033"/>
                </a:lnTo>
                <a:lnTo>
                  <a:pt x="1740218" y="1725033"/>
                </a:lnTo>
                <a:lnTo>
                  <a:pt x="1722967" y="1711166"/>
                </a:lnTo>
                <a:lnTo>
                  <a:pt x="1706117" y="1696816"/>
                </a:lnTo>
                <a:lnTo>
                  <a:pt x="1689680" y="1681994"/>
                </a:lnTo>
                <a:lnTo>
                  <a:pt x="1673671" y="1666712"/>
                </a:lnTo>
                <a:lnTo>
                  <a:pt x="1658102" y="1650981"/>
                </a:lnTo>
                <a:lnTo>
                  <a:pt x="1642985" y="1634815"/>
                </a:lnTo>
                <a:lnTo>
                  <a:pt x="1628333" y="1618227"/>
                </a:lnTo>
                <a:lnTo>
                  <a:pt x="1614157" y="1601230"/>
                </a:lnTo>
                <a:lnTo>
                  <a:pt x="1600470" y="1583837"/>
                </a:lnTo>
                <a:lnTo>
                  <a:pt x="1587281" y="1566063"/>
                </a:lnTo>
                <a:lnTo>
                  <a:pt x="1574602" y="1547923"/>
                </a:lnTo>
                <a:lnTo>
                  <a:pt x="1562442" y="1529429"/>
                </a:lnTo>
                <a:lnTo>
                  <a:pt x="1550812" y="1510599"/>
                </a:lnTo>
                <a:lnTo>
                  <a:pt x="1539721" y="1491445"/>
                </a:lnTo>
                <a:lnTo>
                  <a:pt x="1529178" y="1471985"/>
                </a:lnTo>
                <a:lnTo>
                  <a:pt x="1519191" y="1452234"/>
                </a:lnTo>
                <a:lnTo>
                  <a:pt x="1509768" y="1432207"/>
                </a:lnTo>
                <a:lnTo>
                  <a:pt x="1500917" y="1411922"/>
                </a:lnTo>
                <a:lnTo>
                  <a:pt x="1492646" y="1391393"/>
                </a:lnTo>
                <a:lnTo>
                  <a:pt x="1484960" y="1370638"/>
                </a:lnTo>
                <a:lnTo>
                  <a:pt x="1477865" y="1349673"/>
                </a:lnTo>
                <a:lnTo>
                  <a:pt x="1471369" y="1328515"/>
                </a:lnTo>
                <a:lnTo>
                  <a:pt x="1465475" y="1307181"/>
                </a:lnTo>
                <a:lnTo>
                  <a:pt x="1460189" y="1285689"/>
                </a:lnTo>
                <a:lnTo>
                  <a:pt x="1455515" y="1264056"/>
                </a:lnTo>
                <a:lnTo>
                  <a:pt x="1451456" y="1242299"/>
                </a:lnTo>
                <a:lnTo>
                  <a:pt x="1448017" y="1220435"/>
                </a:lnTo>
                <a:lnTo>
                  <a:pt x="1445198" y="1198482"/>
                </a:lnTo>
                <a:lnTo>
                  <a:pt x="1443004" y="1176459"/>
                </a:lnTo>
                <a:lnTo>
                  <a:pt x="1441436" y="1154382"/>
                </a:lnTo>
                <a:lnTo>
                  <a:pt x="1440494" y="1132269"/>
                </a:lnTo>
                <a:lnTo>
                  <a:pt x="1440180" y="1110139"/>
                </a:lnTo>
                <a:lnTo>
                  <a:pt x="1440494" y="1088008"/>
                </a:lnTo>
                <a:lnTo>
                  <a:pt x="1441436" y="1065896"/>
                </a:lnTo>
                <a:lnTo>
                  <a:pt x="1443004" y="1043819"/>
                </a:lnTo>
                <a:lnTo>
                  <a:pt x="1445198" y="1021795"/>
                </a:lnTo>
                <a:lnTo>
                  <a:pt x="1448017" y="999843"/>
                </a:lnTo>
                <a:lnTo>
                  <a:pt x="1451456" y="977979"/>
                </a:lnTo>
                <a:lnTo>
                  <a:pt x="1455515" y="956222"/>
                </a:lnTo>
                <a:lnTo>
                  <a:pt x="1460189" y="934588"/>
                </a:lnTo>
                <a:lnTo>
                  <a:pt x="1465475" y="913096"/>
                </a:lnTo>
                <a:lnTo>
                  <a:pt x="1471369" y="891763"/>
                </a:lnTo>
                <a:lnTo>
                  <a:pt x="1477865" y="870605"/>
                </a:lnTo>
                <a:lnTo>
                  <a:pt x="1484960" y="849640"/>
                </a:lnTo>
                <a:lnTo>
                  <a:pt x="1492646" y="828885"/>
                </a:lnTo>
                <a:lnTo>
                  <a:pt x="1500917" y="808356"/>
                </a:lnTo>
                <a:lnTo>
                  <a:pt x="1509768" y="788070"/>
                </a:lnTo>
                <a:lnTo>
                  <a:pt x="1519191" y="768043"/>
                </a:lnTo>
                <a:lnTo>
                  <a:pt x="1529178" y="748292"/>
                </a:lnTo>
                <a:lnTo>
                  <a:pt x="1539721" y="728832"/>
                </a:lnTo>
                <a:lnTo>
                  <a:pt x="1550812" y="709679"/>
                </a:lnTo>
                <a:lnTo>
                  <a:pt x="1562442" y="690848"/>
                </a:lnTo>
                <a:lnTo>
                  <a:pt x="1574602" y="672355"/>
                </a:lnTo>
                <a:lnTo>
                  <a:pt x="1587281" y="654214"/>
                </a:lnTo>
                <a:lnTo>
                  <a:pt x="1600470" y="636440"/>
                </a:lnTo>
                <a:lnTo>
                  <a:pt x="1614157" y="619048"/>
                </a:lnTo>
                <a:lnTo>
                  <a:pt x="1628333" y="602051"/>
                </a:lnTo>
                <a:lnTo>
                  <a:pt x="1642985" y="585462"/>
                </a:lnTo>
                <a:lnTo>
                  <a:pt x="1658102" y="569296"/>
                </a:lnTo>
                <a:lnTo>
                  <a:pt x="1673671" y="553566"/>
                </a:lnTo>
                <a:lnTo>
                  <a:pt x="1689680" y="538283"/>
                </a:lnTo>
                <a:lnTo>
                  <a:pt x="1706117" y="523461"/>
                </a:lnTo>
                <a:lnTo>
                  <a:pt x="1722967" y="509111"/>
                </a:lnTo>
                <a:lnTo>
                  <a:pt x="1740218" y="495245"/>
                </a:lnTo>
                <a:close/>
              </a:path>
            </a:pathLst>
          </a:custGeom>
          <a:solidFill xmlns:a="http://schemas.openxmlformats.org/drawingml/2006/main">
            <a:srgbClr val="9ED6E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F5AE892-8C80-4BC6-B4F3-1B0038DE1788}"/>
              </a:ext>
            </a:extLst>
          </p:cNvPr>
          <p:cNvSpPr>
            <a:spLocks xmlns:a="http://schemas.openxmlformats.org/drawingml/2006/main" noGrp="1"/>
          </p:cNvSpPr>
          <p:nvPr/>
        </p:nvSpPr>
        <p:spPr>
          <a:xfrm xmlns:a="http://schemas.openxmlformats.org/drawingml/2006/main">
            <a:off x="2968943" y="4797266"/>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33" name="">
            <a:extLst xmlns:a="http://schemas.openxmlformats.org/drawingml/2006/main">
              <a:ext uri="{FF2B5EF4-FFF2-40B4-BE49-F238E27FC236}">
                <a16:creationId xmlns:a16="http://schemas.microsoft.com/office/drawing/2014/main" id="{BEFA4D40-B81F-496D-8C4A-FB9C031787DF}"/>
              </a:ext>
            </a:extLst>
          </p:cNvPr>
          <p:cNvSpPr>
            <a:spLocks xmlns:a="http://schemas.openxmlformats.org/drawingml/2006/main" noGrp="1"/>
          </p:cNvSpPr>
          <p:nvPr/>
        </p:nvSpPr>
        <p:spPr>
          <a:xfrm xmlns:a="http://schemas.openxmlformats.org/drawingml/2006/main">
            <a:off x="3929063" y="4797266"/>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34" name="">
            <a:extLst xmlns:a="http://schemas.openxmlformats.org/drawingml/2006/main">
              <a:ext uri="{FF2B5EF4-FFF2-40B4-BE49-F238E27FC236}">
                <a16:creationId xmlns:a16="http://schemas.microsoft.com/office/drawing/2014/main" id="{5E1C5B79-5F1E-4FCF-A6D5-C71733B7EC41}"/>
              </a:ext>
            </a:extLst>
          </p:cNvPr>
          <p:cNvSpPr>
            <a:spLocks xmlns:a="http://schemas.openxmlformats.org/drawingml/2006/main" noGrp="1"/>
          </p:cNvSpPr>
          <p:nvPr/>
        </p:nvSpPr>
        <p:spPr>
          <a:xfrm xmlns:a="http://schemas.openxmlformats.org/drawingml/2006/main">
            <a:off x="2500884" y="4527233"/>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Talk keys</a:t>
            </a:r>
          </a:p>
        </p:txBody>
      </p:sp>
      <p:sp>
        <p:nvSpPr>
          <p:cNvPr id="35" name="">
            <a:extLst xmlns:a="http://schemas.openxmlformats.org/drawingml/2006/main">
              <a:ext uri="{FF2B5EF4-FFF2-40B4-BE49-F238E27FC236}">
                <a16:creationId xmlns:a16="http://schemas.microsoft.com/office/drawing/2014/main" id="{140FFF53-4CA2-44EC-82BE-D539E8611C36}"/>
              </a:ext>
            </a:extLst>
          </p:cNvPr>
          <p:cNvSpPr>
            <a:spLocks xmlns:a="http://schemas.openxmlformats.org/drawingml/2006/main" noGrp="1"/>
          </p:cNvSpPr>
          <p:nvPr/>
        </p:nvSpPr>
        <p:spPr>
          <a:xfrm xmlns:a="http://schemas.openxmlformats.org/drawingml/2006/main">
            <a:off x="4199096" y="4527233"/>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Speaker keys</a:t>
            </a:r>
          </a:p>
        </p:txBody>
      </p:sp>
      <p:sp>
        <p:nvSpPr>
          <p:cNvPr id="36" name="">
            <a:extLst xmlns:a="http://schemas.openxmlformats.org/drawingml/2006/main">
              <a:ext uri="{FF2B5EF4-FFF2-40B4-BE49-F238E27FC236}">
                <a16:creationId xmlns:a16="http://schemas.microsoft.com/office/drawing/2014/main" id="{3FBD35E4-EF71-48C4-A53B-61023DB76EC4}"/>
              </a:ext>
            </a:extLst>
          </p:cNvPr>
          <p:cNvSpPr>
            <a:spLocks xmlns:a="http://schemas.openxmlformats.org/drawingml/2006/main" noGrp="1"/>
          </p:cNvSpPr>
          <p:nvPr/>
        </p:nvSpPr>
        <p:spPr>
          <a:xfrm xmlns:a="http://schemas.openxmlformats.org/drawingml/2006/main">
            <a:off x="2536889" y="5505355"/>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S3</a:t>
            </a:r>
          </a:p>
        </p:txBody>
      </p:sp>
      <p:sp>
        <p:nvSpPr>
          <p:cNvPr id="37" name="">
            <a:extLst xmlns:a="http://schemas.openxmlformats.org/drawingml/2006/main">
              <a:ext uri="{FF2B5EF4-FFF2-40B4-BE49-F238E27FC236}">
                <a16:creationId xmlns:a16="http://schemas.microsoft.com/office/drawing/2014/main" id="{902403B6-49CC-4ADC-85B9-510A330A3E8F}"/>
              </a:ext>
            </a:extLst>
          </p:cNvPr>
          <p:cNvSpPr>
            <a:spLocks xmlns:a="http://schemas.openxmlformats.org/drawingml/2006/main" noGrp="1"/>
          </p:cNvSpPr>
          <p:nvPr/>
        </p:nvSpPr>
        <p:spPr>
          <a:xfrm xmlns:a="http://schemas.openxmlformats.org/drawingml/2006/main">
            <a:off x="3388995" y="5397341"/>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S1</a:t>
            </a:r>
          </a:p>
        </p:txBody>
      </p:sp>
      <p:sp>
        <p:nvSpPr>
          <p:cNvPr id="38" name="">
            <a:extLst xmlns:a="http://schemas.openxmlformats.org/drawingml/2006/main">
              <a:ext uri="{FF2B5EF4-FFF2-40B4-BE49-F238E27FC236}">
                <a16:creationId xmlns:a16="http://schemas.microsoft.com/office/drawing/2014/main" id="{F0FCF188-A598-479F-97A2-66063C9CA80B}"/>
              </a:ext>
            </a:extLst>
          </p:cNvPr>
          <p:cNvSpPr>
            <a:spLocks xmlns:a="http://schemas.openxmlformats.org/drawingml/2006/main" noGrp="1"/>
          </p:cNvSpPr>
          <p:nvPr/>
        </p:nvSpPr>
        <p:spPr>
          <a:xfrm xmlns:a="http://schemas.openxmlformats.org/drawingml/2006/main">
            <a:off x="3388995" y="5601367"/>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S2</a:t>
            </a:r>
          </a:p>
        </p:txBody>
      </p:sp>
      <p:sp>
        <p:nvSpPr>
          <p:cNvPr id="39" name="">
            <a:extLst xmlns:a="http://schemas.openxmlformats.org/drawingml/2006/main">
              <a:ext uri="{FF2B5EF4-FFF2-40B4-BE49-F238E27FC236}">
                <a16:creationId xmlns:a16="http://schemas.microsoft.com/office/drawing/2014/main" id="{8D4E5318-36F1-4616-8AC7-E94DA7CDCF9C}"/>
              </a:ext>
            </a:extLst>
          </p:cNvPr>
          <p:cNvSpPr>
            <a:spLocks xmlns:a="http://schemas.openxmlformats.org/drawingml/2006/main" noGrp="1"/>
          </p:cNvSpPr>
          <p:nvPr/>
        </p:nvSpPr>
        <p:spPr>
          <a:xfrm xmlns:a="http://schemas.openxmlformats.org/drawingml/2006/main">
            <a:off x="4289108" y="5505355"/>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S4</a:t>
            </a:r>
          </a:p>
        </p:txBody>
      </p:sp>
      <p:sp>
        <p:nvSpPr>
          <p:cNvPr id="40" name="">
            <a:extLst xmlns:a="http://schemas.openxmlformats.org/drawingml/2006/main">
              <a:ext uri="{FF2B5EF4-FFF2-40B4-BE49-F238E27FC236}">
                <a16:creationId xmlns:a16="http://schemas.microsoft.com/office/drawing/2014/main" id="{EEA0FC37-B5BA-49E9-AF95-DF6D7D7DDD3F}"/>
              </a:ext>
            </a:extLst>
          </p:cNvPr>
          <p:cNvSpPr>
            <a:spLocks xmlns:a="http://schemas.openxmlformats.org/drawingml/2006/main" noGrp="1"/>
          </p:cNvSpPr>
          <p:nvPr/>
        </p:nvSpPr>
        <p:spPr>
          <a:xfrm xmlns:a="http://schemas.openxmlformats.org/drawingml/2006/main">
            <a:off x="1123950" y="6429375"/>
            <a:ext cx="621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950" b="0">
                <a:solidFill>
                  <a:srgbClr val="20394C"/>
                </a:solidFill>
                <a:latin typeface="DejaVu Sans"/>
                <a:ea typeface="DejaVu Sans"/>
                <a:cs typeface="DejaVu Sans"/>
              </a:defRPr>
            </a:pPr>
            <a:r>
              <a:rPr sz="1950" b="0">
                <a:solidFill>
                  <a:srgbClr val="20394C"/>
                </a:solidFill>
                <a:latin typeface="DejaVu Sans"/>
                <a:ea typeface="DejaVu Sans"/>
                <a:cs typeface="DejaVu Sans"/>
              </a:rPr>
              <a:t>All speaker keys: S1, S2, S4</a:t>
            </a:r>
          </a:p>
        </p:txBody>
      </p:sp>
      <p:sp>
        <p:nvSpPr>
          <p:cNvPr id="41" name="">
            <a:extLst xmlns:a="http://schemas.openxmlformats.org/drawingml/2006/main">
              <a:ext uri="{FF2B5EF4-FFF2-40B4-BE49-F238E27FC236}">
                <a16:creationId xmlns:a16="http://schemas.microsoft.com/office/drawing/2014/main" id="{200151C8-B1FA-4103-9905-7AD52888833F}"/>
              </a:ext>
            </a:extLst>
          </p:cNvPr>
          <p:cNvSpPr>
            <a:spLocks xmlns:a="http://schemas.openxmlformats.org/drawingml/2006/main" noGrp="1"/>
          </p:cNvSpPr>
          <p:nvPr/>
        </p:nvSpPr>
        <p:spPr>
          <a:xfrm xmlns:a="http://schemas.openxmlformats.org/drawingml/2006/main">
            <a:off x="8239125" y="4143375"/>
            <a:ext cx="5543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2250" b="1">
                <a:solidFill>
                  <a:srgbClr val="002E5D"/>
                </a:solidFill>
                <a:latin typeface="DejaVu Sans"/>
                <a:ea typeface="DejaVu Sans"/>
                <a:cs typeface="DejaVu Sans"/>
              </a:defRPr>
            </a:pPr>
            <a:r>
              <a:rPr sz="2250" b="1">
                <a:solidFill>
                  <a:srgbClr val="002E5D"/>
                </a:solidFill>
                <a:latin typeface="DejaVu Sans"/>
                <a:ea typeface="DejaVu Sans"/>
                <a:cs typeface="DejaVu Sans"/>
              </a:rPr>
              <a:t>Outer join</a:t>
            </a:r>
          </a:p>
        </p:txBody>
      </p:sp>
      <p:sp>
        <p:nvSpPr>
          <p:cNvPr id="42" name="">
            <a:extLst xmlns:a="http://schemas.openxmlformats.org/drawingml/2006/main">
              <a:ext uri="{FF2B5EF4-FFF2-40B4-BE49-F238E27FC236}">
                <a16:creationId xmlns:a16="http://schemas.microsoft.com/office/drawing/2014/main" id="{DB3DB200-D5DA-4DB1-8280-8B6FE2DFD019}"/>
              </a:ext>
            </a:extLst>
          </p:cNvPr>
          <p:cNvSpPr>
            <a:spLocks xmlns:a="http://schemas.openxmlformats.org/drawingml/2006/main" noGrp="1"/>
          </p:cNvSpPr>
          <p:nvPr/>
        </p:nvSpPr>
        <p:spPr>
          <a:xfrm xmlns:a="http://schemas.openxmlformats.org/drawingml/2006/main">
            <a:off x="9750743" y="4797266"/>
            <a:ext cx="1560195" cy="1560195"/>
          </a:xfrm>
          <a:prstGeom xmlns:a="http://schemas.openxmlformats.org/drawingml/2006/main" prst="ellipse">
            <a:avLst/>
          </a:prstGeom>
          <a:solidFill xmlns:a="http://schemas.openxmlformats.org/drawingml/2006/main">
            <a:srgbClr val="9ED6E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CC87EBD-6190-4242-8342-D861D0A8A47E}"/>
              </a:ext>
            </a:extLst>
          </p:cNvPr>
          <p:cNvSpPr>
            <a:spLocks xmlns:a="http://schemas.openxmlformats.org/drawingml/2006/main" noGrp="1"/>
          </p:cNvSpPr>
          <p:nvPr/>
        </p:nvSpPr>
        <p:spPr>
          <a:xfrm xmlns:a="http://schemas.openxmlformats.org/drawingml/2006/main">
            <a:off x="10710863" y="4797266"/>
            <a:ext cx="1560195" cy="1560195"/>
          </a:xfrm>
          <a:prstGeom xmlns:a="http://schemas.openxmlformats.org/drawingml/2006/main" prst="ellipse">
            <a:avLst/>
          </a:prstGeom>
          <a:solidFill xmlns:a="http://schemas.openxmlformats.org/drawingml/2006/main">
            <a:srgbClr val="9ED6E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5E327D0-933C-4107-99B5-AE597633451D}"/>
              </a:ext>
            </a:extLst>
          </p:cNvPr>
          <p:cNvSpPr>
            <a:spLocks xmlns:a="http://schemas.openxmlformats.org/drawingml/2006/main" noGrp="1"/>
          </p:cNvSpPr>
          <p:nvPr/>
        </p:nvSpPr>
        <p:spPr>
          <a:xfrm xmlns:a="http://schemas.openxmlformats.org/drawingml/2006/main">
            <a:off x="9270683" y="4467225"/>
            <a:ext cx="3480435" cy="2040255"/>
          </a:xfrm>
          <a:custGeom xmlns:a="http://schemas.openxmlformats.org/drawingml/2006/main">
            <a:pathLst>
              <a:path w="3480435" h="2040255">
                <a:moveTo>
                  <a:pt x="1740218" y="495245"/>
                </a:moveTo>
                <a:lnTo>
                  <a:pt x="1757468" y="509111"/>
                </a:lnTo>
                <a:lnTo>
                  <a:pt x="1774318" y="523461"/>
                </a:lnTo>
                <a:lnTo>
                  <a:pt x="1790755" y="538283"/>
                </a:lnTo>
                <a:lnTo>
                  <a:pt x="1806764" y="553566"/>
                </a:lnTo>
                <a:lnTo>
                  <a:pt x="1822333" y="569296"/>
                </a:lnTo>
                <a:lnTo>
                  <a:pt x="1837450" y="585462"/>
                </a:lnTo>
                <a:lnTo>
                  <a:pt x="1852102" y="602051"/>
                </a:lnTo>
                <a:lnTo>
                  <a:pt x="1866278" y="619048"/>
                </a:lnTo>
                <a:lnTo>
                  <a:pt x="1879965" y="636440"/>
                </a:lnTo>
                <a:lnTo>
                  <a:pt x="1893154" y="654214"/>
                </a:lnTo>
                <a:lnTo>
                  <a:pt x="1905833" y="672355"/>
                </a:lnTo>
                <a:lnTo>
                  <a:pt x="1917993" y="690848"/>
                </a:lnTo>
                <a:lnTo>
                  <a:pt x="1929623" y="709679"/>
                </a:lnTo>
                <a:lnTo>
                  <a:pt x="1940714" y="728832"/>
                </a:lnTo>
                <a:lnTo>
                  <a:pt x="1951257" y="748292"/>
                </a:lnTo>
                <a:lnTo>
                  <a:pt x="1961244" y="768043"/>
                </a:lnTo>
                <a:lnTo>
                  <a:pt x="1970667" y="788070"/>
                </a:lnTo>
                <a:lnTo>
                  <a:pt x="1979518" y="808356"/>
                </a:lnTo>
                <a:lnTo>
                  <a:pt x="1987789" y="828885"/>
                </a:lnTo>
                <a:lnTo>
                  <a:pt x="1995475" y="849640"/>
                </a:lnTo>
                <a:lnTo>
                  <a:pt x="2002570" y="870605"/>
                </a:lnTo>
                <a:lnTo>
                  <a:pt x="2009066" y="891763"/>
                </a:lnTo>
                <a:lnTo>
                  <a:pt x="2014960" y="913096"/>
                </a:lnTo>
                <a:lnTo>
                  <a:pt x="2020246" y="934588"/>
                </a:lnTo>
                <a:lnTo>
                  <a:pt x="2024920" y="956222"/>
                </a:lnTo>
                <a:lnTo>
                  <a:pt x="2028979" y="977979"/>
                </a:lnTo>
                <a:lnTo>
                  <a:pt x="2032418" y="999843"/>
                </a:lnTo>
                <a:lnTo>
                  <a:pt x="2035237" y="1021795"/>
                </a:lnTo>
                <a:lnTo>
                  <a:pt x="2037431" y="1043819"/>
                </a:lnTo>
                <a:lnTo>
                  <a:pt x="2038999" y="1065896"/>
                </a:lnTo>
                <a:lnTo>
                  <a:pt x="2039941" y="1088008"/>
                </a:lnTo>
                <a:lnTo>
                  <a:pt x="2040255" y="1110139"/>
                </a:lnTo>
                <a:lnTo>
                  <a:pt x="2039941" y="1132269"/>
                </a:lnTo>
                <a:lnTo>
                  <a:pt x="2038999" y="1154382"/>
                </a:lnTo>
                <a:lnTo>
                  <a:pt x="2037431" y="1176459"/>
                </a:lnTo>
                <a:lnTo>
                  <a:pt x="2035237" y="1198482"/>
                </a:lnTo>
                <a:lnTo>
                  <a:pt x="2032418" y="1220435"/>
                </a:lnTo>
                <a:lnTo>
                  <a:pt x="2028979" y="1242299"/>
                </a:lnTo>
                <a:lnTo>
                  <a:pt x="2024920" y="1264056"/>
                </a:lnTo>
                <a:lnTo>
                  <a:pt x="2020246" y="1285689"/>
                </a:lnTo>
                <a:lnTo>
                  <a:pt x="2014960" y="1307181"/>
                </a:lnTo>
                <a:lnTo>
                  <a:pt x="2009066" y="1328515"/>
                </a:lnTo>
                <a:lnTo>
                  <a:pt x="2002570" y="1349673"/>
                </a:lnTo>
                <a:lnTo>
                  <a:pt x="1995475" y="1370638"/>
                </a:lnTo>
                <a:lnTo>
                  <a:pt x="1987789" y="1391393"/>
                </a:lnTo>
                <a:lnTo>
                  <a:pt x="1979518" y="1411922"/>
                </a:lnTo>
                <a:lnTo>
                  <a:pt x="1970667" y="1432207"/>
                </a:lnTo>
                <a:lnTo>
                  <a:pt x="1961244" y="1452234"/>
                </a:lnTo>
                <a:lnTo>
                  <a:pt x="1951257" y="1471985"/>
                </a:lnTo>
                <a:lnTo>
                  <a:pt x="1940714" y="1491445"/>
                </a:lnTo>
                <a:lnTo>
                  <a:pt x="1929623" y="1510599"/>
                </a:lnTo>
                <a:lnTo>
                  <a:pt x="1917993" y="1529429"/>
                </a:lnTo>
                <a:lnTo>
                  <a:pt x="1905833" y="1547923"/>
                </a:lnTo>
                <a:lnTo>
                  <a:pt x="1893154" y="1566063"/>
                </a:lnTo>
                <a:lnTo>
                  <a:pt x="1879965" y="1583837"/>
                </a:lnTo>
                <a:lnTo>
                  <a:pt x="1866278" y="1601230"/>
                </a:lnTo>
                <a:lnTo>
                  <a:pt x="1852102" y="1618227"/>
                </a:lnTo>
                <a:lnTo>
                  <a:pt x="1837450" y="1634815"/>
                </a:lnTo>
                <a:lnTo>
                  <a:pt x="1822333" y="1650981"/>
                </a:lnTo>
                <a:lnTo>
                  <a:pt x="1806764" y="1666712"/>
                </a:lnTo>
                <a:lnTo>
                  <a:pt x="1790755" y="1681994"/>
                </a:lnTo>
                <a:lnTo>
                  <a:pt x="1774318" y="1696816"/>
                </a:lnTo>
                <a:lnTo>
                  <a:pt x="1757468" y="1711166"/>
                </a:lnTo>
                <a:lnTo>
                  <a:pt x="1740218" y="1725033"/>
                </a:lnTo>
                <a:lnTo>
                  <a:pt x="1740218" y="1725033"/>
                </a:lnTo>
                <a:lnTo>
                  <a:pt x="1722967" y="1711166"/>
                </a:lnTo>
                <a:lnTo>
                  <a:pt x="1706117" y="1696816"/>
                </a:lnTo>
                <a:lnTo>
                  <a:pt x="1689680" y="1681994"/>
                </a:lnTo>
                <a:lnTo>
                  <a:pt x="1673671" y="1666712"/>
                </a:lnTo>
                <a:lnTo>
                  <a:pt x="1658102" y="1650981"/>
                </a:lnTo>
                <a:lnTo>
                  <a:pt x="1642985" y="1634815"/>
                </a:lnTo>
                <a:lnTo>
                  <a:pt x="1628333" y="1618227"/>
                </a:lnTo>
                <a:lnTo>
                  <a:pt x="1614157" y="1601230"/>
                </a:lnTo>
                <a:lnTo>
                  <a:pt x="1600470" y="1583837"/>
                </a:lnTo>
                <a:lnTo>
                  <a:pt x="1587281" y="1566063"/>
                </a:lnTo>
                <a:lnTo>
                  <a:pt x="1574602" y="1547923"/>
                </a:lnTo>
                <a:lnTo>
                  <a:pt x="1562442" y="1529429"/>
                </a:lnTo>
                <a:lnTo>
                  <a:pt x="1550812" y="1510599"/>
                </a:lnTo>
                <a:lnTo>
                  <a:pt x="1539721" y="1491445"/>
                </a:lnTo>
                <a:lnTo>
                  <a:pt x="1529178" y="1471985"/>
                </a:lnTo>
                <a:lnTo>
                  <a:pt x="1519191" y="1452234"/>
                </a:lnTo>
                <a:lnTo>
                  <a:pt x="1509768" y="1432207"/>
                </a:lnTo>
                <a:lnTo>
                  <a:pt x="1500917" y="1411922"/>
                </a:lnTo>
                <a:lnTo>
                  <a:pt x="1492646" y="1391393"/>
                </a:lnTo>
                <a:lnTo>
                  <a:pt x="1484960" y="1370638"/>
                </a:lnTo>
                <a:lnTo>
                  <a:pt x="1477865" y="1349673"/>
                </a:lnTo>
                <a:lnTo>
                  <a:pt x="1471369" y="1328515"/>
                </a:lnTo>
                <a:lnTo>
                  <a:pt x="1465475" y="1307181"/>
                </a:lnTo>
                <a:lnTo>
                  <a:pt x="1460189" y="1285689"/>
                </a:lnTo>
                <a:lnTo>
                  <a:pt x="1455515" y="1264056"/>
                </a:lnTo>
                <a:lnTo>
                  <a:pt x="1451456" y="1242299"/>
                </a:lnTo>
                <a:lnTo>
                  <a:pt x="1448017" y="1220435"/>
                </a:lnTo>
                <a:lnTo>
                  <a:pt x="1445198" y="1198482"/>
                </a:lnTo>
                <a:lnTo>
                  <a:pt x="1443004" y="1176459"/>
                </a:lnTo>
                <a:lnTo>
                  <a:pt x="1441436" y="1154382"/>
                </a:lnTo>
                <a:lnTo>
                  <a:pt x="1440494" y="1132269"/>
                </a:lnTo>
                <a:lnTo>
                  <a:pt x="1440180" y="1110139"/>
                </a:lnTo>
                <a:lnTo>
                  <a:pt x="1440494" y="1088008"/>
                </a:lnTo>
                <a:lnTo>
                  <a:pt x="1441436" y="1065896"/>
                </a:lnTo>
                <a:lnTo>
                  <a:pt x="1443004" y="1043819"/>
                </a:lnTo>
                <a:lnTo>
                  <a:pt x="1445198" y="1021795"/>
                </a:lnTo>
                <a:lnTo>
                  <a:pt x="1448017" y="999843"/>
                </a:lnTo>
                <a:lnTo>
                  <a:pt x="1451456" y="977979"/>
                </a:lnTo>
                <a:lnTo>
                  <a:pt x="1455515" y="956222"/>
                </a:lnTo>
                <a:lnTo>
                  <a:pt x="1460189" y="934588"/>
                </a:lnTo>
                <a:lnTo>
                  <a:pt x="1465475" y="913096"/>
                </a:lnTo>
                <a:lnTo>
                  <a:pt x="1471369" y="891763"/>
                </a:lnTo>
                <a:lnTo>
                  <a:pt x="1477865" y="870605"/>
                </a:lnTo>
                <a:lnTo>
                  <a:pt x="1484960" y="849640"/>
                </a:lnTo>
                <a:lnTo>
                  <a:pt x="1492646" y="828885"/>
                </a:lnTo>
                <a:lnTo>
                  <a:pt x="1500917" y="808356"/>
                </a:lnTo>
                <a:lnTo>
                  <a:pt x="1509768" y="788070"/>
                </a:lnTo>
                <a:lnTo>
                  <a:pt x="1519191" y="768043"/>
                </a:lnTo>
                <a:lnTo>
                  <a:pt x="1529178" y="748292"/>
                </a:lnTo>
                <a:lnTo>
                  <a:pt x="1539721" y="728832"/>
                </a:lnTo>
                <a:lnTo>
                  <a:pt x="1550812" y="709679"/>
                </a:lnTo>
                <a:lnTo>
                  <a:pt x="1562442" y="690848"/>
                </a:lnTo>
                <a:lnTo>
                  <a:pt x="1574602" y="672355"/>
                </a:lnTo>
                <a:lnTo>
                  <a:pt x="1587281" y="654214"/>
                </a:lnTo>
                <a:lnTo>
                  <a:pt x="1600470" y="636440"/>
                </a:lnTo>
                <a:lnTo>
                  <a:pt x="1614157" y="619048"/>
                </a:lnTo>
                <a:lnTo>
                  <a:pt x="1628333" y="602051"/>
                </a:lnTo>
                <a:lnTo>
                  <a:pt x="1642985" y="585462"/>
                </a:lnTo>
                <a:lnTo>
                  <a:pt x="1658102" y="569296"/>
                </a:lnTo>
                <a:lnTo>
                  <a:pt x="1673671" y="553566"/>
                </a:lnTo>
                <a:lnTo>
                  <a:pt x="1689680" y="538283"/>
                </a:lnTo>
                <a:lnTo>
                  <a:pt x="1706117" y="523461"/>
                </a:lnTo>
                <a:lnTo>
                  <a:pt x="1722967" y="509111"/>
                </a:lnTo>
                <a:lnTo>
                  <a:pt x="1740218" y="495245"/>
                </a:lnTo>
                <a:close/>
              </a:path>
            </a:pathLst>
          </a:custGeom>
          <a:solidFill xmlns:a="http://schemas.openxmlformats.org/drawingml/2006/main">
            <a:srgbClr val="9ED6EF"/>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534BFC7-CA8C-4F77-9729-9B209DB6DBCC}"/>
              </a:ext>
            </a:extLst>
          </p:cNvPr>
          <p:cNvSpPr>
            <a:spLocks xmlns:a="http://schemas.openxmlformats.org/drawingml/2006/main" noGrp="1"/>
          </p:cNvSpPr>
          <p:nvPr/>
        </p:nvSpPr>
        <p:spPr>
          <a:xfrm xmlns:a="http://schemas.openxmlformats.org/drawingml/2006/main">
            <a:off x="9750743" y="4797266"/>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46" name="">
            <a:extLst xmlns:a="http://schemas.openxmlformats.org/drawingml/2006/main">
              <a:ext uri="{FF2B5EF4-FFF2-40B4-BE49-F238E27FC236}">
                <a16:creationId xmlns:a16="http://schemas.microsoft.com/office/drawing/2014/main" id="{F774D64E-949C-42FB-9B5D-30E4DD857D71}"/>
              </a:ext>
            </a:extLst>
          </p:cNvPr>
          <p:cNvSpPr>
            <a:spLocks xmlns:a="http://schemas.openxmlformats.org/drawingml/2006/main" noGrp="1"/>
          </p:cNvSpPr>
          <p:nvPr/>
        </p:nvSpPr>
        <p:spPr>
          <a:xfrm xmlns:a="http://schemas.openxmlformats.org/drawingml/2006/main">
            <a:off x="10710863" y="4797266"/>
            <a:ext cx="1560195" cy="1560195"/>
          </a:xfrm>
          <a:prstGeom xmlns:a="http://schemas.openxmlformats.org/drawingml/2006/main" prst="ellipse">
            <a:avLst/>
          </a:prstGeom>
          <a:noFill xmlns:a="http://schemas.openxmlformats.org/drawingml/2006/main"/>
          <a:ln xmlns:a="http://schemas.openxmlformats.org/drawingml/2006/main" w="19050">
            <a:solidFill>
              <a:srgbClr val="002E5D"/>
            </a:solidFill>
          </a:ln>
        </p:spPr>
      </p:sp>
      <p:sp>
        <p:nvSpPr>
          <p:cNvPr id="47" name="">
            <a:extLst xmlns:a="http://schemas.openxmlformats.org/drawingml/2006/main">
              <a:ext uri="{FF2B5EF4-FFF2-40B4-BE49-F238E27FC236}">
                <a16:creationId xmlns:a16="http://schemas.microsoft.com/office/drawing/2014/main" id="{0CCBA5A4-4DFC-48A4-A9DB-F5D417F4B432}"/>
              </a:ext>
            </a:extLst>
          </p:cNvPr>
          <p:cNvSpPr>
            <a:spLocks xmlns:a="http://schemas.openxmlformats.org/drawingml/2006/main" noGrp="1"/>
          </p:cNvSpPr>
          <p:nvPr/>
        </p:nvSpPr>
        <p:spPr>
          <a:xfrm xmlns:a="http://schemas.openxmlformats.org/drawingml/2006/main">
            <a:off x="9282684" y="4527233"/>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Talk keys</a:t>
            </a:r>
          </a:p>
        </p:txBody>
      </p:sp>
      <p:sp>
        <p:nvSpPr>
          <p:cNvPr id="48" name="">
            <a:extLst xmlns:a="http://schemas.openxmlformats.org/drawingml/2006/main">
              <a:ext uri="{FF2B5EF4-FFF2-40B4-BE49-F238E27FC236}">
                <a16:creationId xmlns:a16="http://schemas.microsoft.com/office/drawing/2014/main" id="{990F8C82-14E2-490C-BC7B-CB401649551D}"/>
              </a:ext>
            </a:extLst>
          </p:cNvPr>
          <p:cNvSpPr>
            <a:spLocks xmlns:a="http://schemas.openxmlformats.org/drawingml/2006/main" noGrp="1"/>
          </p:cNvSpPr>
          <p:nvPr/>
        </p:nvSpPr>
        <p:spPr>
          <a:xfrm xmlns:a="http://schemas.openxmlformats.org/drawingml/2006/main">
            <a:off x="10980896" y="4527233"/>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Speaker keys</a:t>
            </a:r>
          </a:p>
        </p:txBody>
      </p:sp>
      <p:sp>
        <p:nvSpPr>
          <p:cNvPr id="49" name="">
            <a:extLst xmlns:a="http://schemas.openxmlformats.org/drawingml/2006/main">
              <a:ext uri="{FF2B5EF4-FFF2-40B4-BE49-F238E27FC236}">
                <a16:creationId xmlns:a16="http://schemas.microsoft.com/office/drawing/2014/main" id="{3793B395-C2DB-4721-9FBF-9680FF0BCD59}"/>
              </a:ext>
            </a:extLst>
          </p:cNvPr>
          <p:cNvSpPr>
            <a:spLocks xmlns:a="http://schemas.openxmlformats.org/drawingml/2006/main" noGrp="1"/>
          </p:cNvSpPr>
          <p:nvPr/>
        </p:nvSpPr>
        <p:spPr>
          <a:xfrm xmlns:a="http://schemas.openxmlformats.org/drawingml/2006/main">
            <a:off x="9318689" y="5505355"/>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S3</a:t>
            </a:r>
          </a:p>
        </p:txBody>
      </p:sp>
      <p:sp>
        <p:nvSpPr>
          <p:cNvPr id="50" name="">
            <a:extLst xmlns:a="http://schemas.openxmlformats.org/drawingml/2006/main">
              <a:ext uri="{FF2B5EF4-FFF2-40B4-BE49-F238E27FC236}">
                <a16:creationId xmlns:a16="http://schemas.microsoft.com/office/drawing/2014/main" id="{B7CD3451-3104-47EE-9652-1E9D1AA79DA4}"/>
              </a:ext>
            </a:extLst>
          </p:cNvPr>
          <p:cNvSpPr>
            <a:spLocks xmlns:a="http://schemas.openxmlformats.org/drawingml/2006/main" noGrp="1"/>
          </p:cNvSpPr>
          <p:nvPr/>
        </p:nvSpPr>
        <p:spPr>
          <a:xfrm xmlns:a="http://schemas.openxmlformats.org/drawingml/2006/main">
            <a:off x="10170795" y="5397341"/>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S1</a:t>
            </a:r>
          </a:p>
        </p:txBody>
      </p:sp>
      <p:sp>
        <p:nvSpPr>
          <p:cNvPr id="51" name="">
            <a:extLst xmlns:a="http://schemas.openxmlformats.org/drawingml/2006/main">
              <a:ext uri="{FF2B5EF4-FFF2-40B4-BE49-F238E27FC236}">
                <a16:creationId xmlns:a16="http://schemas.microsoft.com/office/drawing/2014/main" id="{1B022A2A-7B97-4605-838F-C6101D53F935}"/>
              </a:ext>
            </a:extLst>
          </p:cNvPr>
          <p:cNvSpPr>
            <a:spLocks xmlns:a="http://schemas.openxmlformats.org/drawingml/2006/main" noGrp="1"/>
          </p:cNvSpPr>
          <p:nvPr/>
        </p:nvSpPr>
        <p:spPr>
          <a:xfrm xmlns:a="http://schemas.openxmlformats.org/drawingml/2006/main">
            <a:off x="10170795" y="5601367"/>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S2</a:t>
            </a:r>
          </a:p>
        </p:txBody>
      </p:sp>
      <p:sp>
        <p:nvSpPr>
          <p:cNvPr id="52" name="">
            <a:extLst xmlns:a="http://schemas.openxmlformats.org/drawingml/2006/main">
              <a:ext uri="{FF2B5EF4-FFF2-40B4-BE49-F238E27FC236}">
                <a16:creationId xmlns:a16="http://schemas.microsoft.com/office/drawing/2014/main" id="{6CCD3925-070B-4497-8C16-1C269DEFA21D}"/>
              </a:ext>
            </a:extLst>
          </p:cNvPr>
          <p:cNvSpPr>
            <a:spLocks xmlns:a="http://schemas.openxmlformats.org/drawingml/2006/main" noGrp="1"/>
          </p:cNvSpPr>
          <p:nvPr/>
        </p:nvSpPr>
        <p:spPr>
          <a:xfrm xmlns:a="http://schemas.openxmlformats.org/drawingml/2006/main">
            <a:off x="11070908" y="5505355"/>
            <a:ext cx="1680210" cy="2640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575" b="0">
                <a:solidFill>
                  <a:srgbClr val="002E5D"/>
                </a:solidFill>
                <a:latin typeface="DejaVu Sans"/>
                <a:ea typeface="DejaVu Sans"/>
                <a:cs typeface="DejaVu Sans"/>
              </a:defRPr>
            </a:pPr>
            <a:r>
              <a:rPr sz="1575" b="0">
                <a:solidFill>
                  <a:srgbClr val="002E5D"/>
                </a:solidFill>
                <a:latin typeface="DejaVu Sans"/>
                <a:ea typeface="DejaVu Sans"/>
                <a:cs typeface="DejaVu Sans"/>
              </a:rPr>
              <a:t>S4</a:t>
            </a:r>
          </a:p>
        </p:txBody>
      </p:sp>
      <p:sp>
        <p:nvSpPr>
          <p:cNvPr id="53" name="">
            <a:extLst xmlns:a="http://schemas.openxmlformats.org/drawingml/2006/main">
              <a:ext uri="{FF2B5EF4-FFF2-40B4-BE49-F238E27FC236}">
                <a16:creationId xmlns:a16="http://schemas.microsoft.com/office/drawing/2014/main" id="{AA834535-04BA-4DE9-AD30-60CD658564E5}"/>
              </a:ext>
            </a:extLst>
          </p:cNvPr>
          <p:cNvSpPr>
            <a:spLocks xmlns:a="http://schemas.openxmlformats.org/drawingml/2006/main" noGrp="1"/>
          </p:cNvSpPr>
          <p:nvPr/>
        </p:nvSpPr>
        <p:spPr>
          <a:xfrm xmlns:a="http://schemas.openxmlformats.org/drawingml/2006/main">
            <a:off x="7905750" y="6429375"/>
            <a:ext cx="6210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buNone/>
              <a:defRPr sz="1950" b="0">
                <a:solidFill>
                  <a:srgbClr val="20394C"/>
                </a:solidFill>
                <a:latin typeface="DejaVu Sans"/>
                <a:ea typeface="DejaVu Sans"/>
                <a:cs typeface="DejaVu Sans"/>
              </a:defRPr>
            </a:pPr>
            <a:r>
              <a:rPr sz="1950" b="0">
                <a:solidFill>
                  <a:srgbClr val="20394C"/>
                </a:solidFill>
                <a:latin typeface="DejaVu Sans"/>
                <a:ea typeface="DejaVu Sans"/>
                <a:cs typeface="DejaVu Sans"/>
              </a:rPr>
              <a:t>Either table: S1, S2, S3, S4</a:t>
            </a:r>
          </a:p>
        </p:txBody>
      </p:sp>
      <p:sp>
        <p:nvSpPr>
          <p:cNvPr id="54" name="">
            <a:extLst xmlns:a="http://schemas.openxmlformats.org/drawingml/2006/main">
              <a:ext uri="{FF2B5EF4-FFF2-40B4-BE49-F238E27FC236}">
                <a16:creationId xmlns:a16="http://schemas.microsoft.com/office/drawing/2014/main" id="{697AD569-5DFB-450E-B991-B0229D0C80CC}"/>
              </a:ext>
            </a:extLst>
          </p:cNvPr>
          <p:cNvSpPr>
            <a:spLocks xmlns:a="http://schemas.openxmlformats.org/drawingml/2006/main" noGrp="1"/>
          </p:cNvSpPr>
          <p:nvPr/>
        </p:nvSpPr>
        <p:spPr>
          <a:xfrm xmlns:a="http://schemas.openxmlformats.org/drawingml/2006/main">
            <a:off x="838200" y="695325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Blue regions show retained keys. Repeated keys can create multiple matching rows.</a:t>
            </a:r>
          </a:p>
        </p:txBody>
      </p:sp>
      <p:sp>
        <p:nvSpPr>
          <p:cNvPr id="55" name="">
            <a:extLst xmlns:a="http://schemas.openxmlformats.org/drawingml/2006/main">
              <a:ext uri="{FF2B5EF4-FFF2-40B4-BE49-F238E27FC236}">
                <a16:creationId xmlns:a16="http://schemas.microsoft.com/office/drawing/2014/main" id="{C1AE62E2-6A1B-48D7-8A1C-434558342220}"/>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9 / 35</a:t>
            </a:r>
          </a:p>
        </p:txBody>
      </p:sp>
    </p:spTree>
    <p:extLst>
      <p:ext uri="{BB962C8B-B14F-4D97-AF65-F5344CB8AC3E}">
        <p14:creationId xmlns:p14="http://schemas.microsoft.com/office/powerpoint/2010/main" val="4093181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665618-790F-4A52-A702-FDF699353990}"/>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Prediction: a left join</a:t>
            </a:r>
          </a:p>
        </p:txBody>
      </p:sp>
      <p:sp>
        <p:nvSpPr>
          <p:cNvPr id="2" name="">
            <a:extLst xmlns:a="http://schemas.openxmlformats.org/drawingml/2006/main">
              <a:ext uri="{FF2B5EF4-FFF2-40B4-BE49-F238E27FC236}">
                <a16:creationId xmlns:a16="http://schemas.microsoft.com/office/drawing/2014/main" id="{98212247-1C5A-4CD5-A3A5-59ACFBAEB0FA}"/>
              </a:ext>
            </a:extLst>
          </p:cNvPr>
          <p:cNvSpPr>
            <a:spLocks xmlns:a="http://schemas.openxmlformats.org/drawingml/2006/main" noGrp="1"/>
          </p:cNvSpPr>
          <p:nvPr/>
        </p:nvSpPr>
        <p:spPr>
          <a:xfrm xmlns:a="http://schemas.openxmlformats.org/drawingml/2006/main">
            <a:off x="83820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Left: talks</a:t>
            </a:r>
          </a:p>
        </p:txBody>
      </p:sp>
      <p:graphicFrame>
        <p:nvGraphicFramePr>
          <p:cNvPr id="14" name=""/>
          <p:cNvGraphicFramePr/>
          <p:nvPr/>
        </p:nvGraphicFramePr>
        <p:xfrm>
          <a:off xmlns:a="http://schemas.openxmlformats.org/drawingml/2006/main" x="838200" y="1962150"/>
          <a:ext xmlns:a="http://schemas.openxmlformats.org/drawingml/2006/main" cx="6572250" cy="2914650"/>
        </p:xfrm>
        <a:graphic xmlns:a="http://schemas.openxmlformats.org/drawingml/2006/main">
          <a:graphicData uri="http://schemas.openxmlformats.org/drawingml/2006/table">
            <a:tbl>
              <a:tblPr firstRow="1" bandRow="0"/>
              <a:tblGrid>
                <a:gridCol w="2112509"/>
                <a:gridCol w="2347232"/>
                <a:gridCol w="2112509"/>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1600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4A18E5B-F67D-4FC4-8019-A44E56D2FA42}"/>
              </a:ext>
            </a:extLst>
          </p:cNvPr>
          <p:cNvSpPr>
            <a:spLocks xmlns:a="http://schemas.openxmlformats.org/drawingml/2006/main" noGrp="1"/>
          </p:cNvSpPr>
          <p:nvPr/>
        </p:nvSpPr>
        <p:spPr>
          <a:xfrm xmlns:a="http://schemas.openxmlformats.org/drawingml/2006/main">
            <a:off x="782955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Right: speakers</a:t>
            </a:r>
          </a:p>
        </p:txBody>
      </p:sp>
      <p:graphicFrame>
        <p:nvGraphicFramePr>
          <p:cNvPr id="16" name=""/>
          <p:cNvGraphicFramePr/>
          <p:nvPr/>
        </p:nvGraphicFramePr>
        <p:xfrm>
          <a:off xmlns:a="http://schemas.openxmlformats.org/drawingml/2006/main" x="7829550" y="1962150"/>
          <a:ext xmlns:a="http://schemas.openxmlformats.org/drawingml/2006/main" cx="6572250" cy="1943100"/>
        </p:xfrm>
        <a:graphic xmlns:a="http://schemas.openxmlformats.org/drawingml/2006/main">
          <a:graphicData uri="http://schemas.openxmlformats.org/drawingml/2006/table">
            <a:tbl>
              <a:tblPr firstRow="1" bandRow="0"/>
              <a:tblGrid>
                <a:gridCol w="2347232"/>
                <a:gridCol w="2112509"/>
                <a:gridCol w="2112509"/>
              </a:tblGrid>
              <a:tr h="485775">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S4</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Casey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EB15A29-F9F5-4132-8E63-0CE6517C6395}"/>
              </a:ext>
            </a:extLst>
          </p:cNvPr>
          <p:cNvSpPr>
            <a:spLocks xmlns:a="http://schemas.openxmlformats.org/drawingml/2006/main" noGrp="1"/>
          </p:cNvSpPr>
          <p:nvPr/>
        </p:nvSpPr>
        <p:spPr>
          <a:xfrm xmlns:a="http://schemas.openxmlformats.org/drawingml/2006/main">
            <a:off x="838200" y="52006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We will match speaker_id and retain every talk.</a:t>
            </a:r>
          </a:p>
        </p:txBody>
      </p:sp>
      <p:sp>
        <p:nvSpPr>
          <p:cNvPr id="7" name="">
            <a:extLst xmlns:a="http://schemas.openxmlformats.org/drawingml/2006/main">
              <a:ext uri="{FF2B5EF4-FFF2-40B4-BE49-F238E27FC236}">
                <a16:creationId xmlns:a16="http://schemas.microsoft.com/office/drawing/2014/main" id="{B455587F-1C93-4527-85AB-A968452F394A}"/>
              </a:ext>
            </a:extLst>
          </p:cNvPr>
          <p:cNvSpPr>
            <a:spLocks xmlns:a="http://schemas.openxmlformats.org/drawingml/2006/main" noGrp="1"/>
          </p:cNvSpPr>
          <p:nvPr/>
        </p:nvSpPr>
        <p:spPr>
          <a:xfrm xmlns:a="http://schemas.openxmlformats.org/drawingml/2006/main">
            <a:off x="838200" y="58959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How many rows? Which talk lacks speaker information? Does S4 appear?</a:t>
            </a:r>
          </a:p>
        </p:txBody>
      </p:sp>
      <p:sp>
        <p:nvSpPr>
          <p:cNvPr id="8" name="">
            <a:extLst xmlns:a="http://schemas.openxmlformats.org/drawingml/2006/main">
              <a:ext uri="{FF2B5EF4-FFF2-40B4-BE49-F238E27FC236}">
                <a16:creationId xmlns:a16="http://schemas.microsoft.com/office/drawing/2014/main" id="{9E77DF0B-6E02-45CD-8562-93ECF581E7F4}"/>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10 / 35</a:t>
            </a:r>
          </a:p>
        </p:txBody>
      </p:sp>
    </p:spTree>
    <p:extLst>
      <p:ext uri="{BB962C8B-B14F-4D97-AF65-F5344CB8AC3E}">
        <p14:creationId xmlns:p14="http://schemas.microsoft.com/office/powerpoint/2010/main" val="18140343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B34045-1BB5-4C13-ABD9-96751BE5F13A}"/>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Left join: every talk remains</a:t>
            </a:r>
          </a:p>
        </p:txBody>
      </p:sp>
      <p:sp>
        <p:nvSpPr>
          <p:cNvPr id="2" name="">
            <a:extLst xmlns:a="http://schemas.openxmlformats.org/drawingml/2006/main">
              <a:ext uri="{FF2B5EF4-FFF2-40B4-BE49-F238E27FC236}">
                <a16:creationId xmlns:a16="http://schemas.microsoft.com/office/drawing/2014/main" id="{FF95A9DA-FB6C-407F-ADA8-DD2FA3AFEC6D}"/>
              </a:ext>
            </a:extLst>
          </p:cNvPr>
          <p:cNvSpPr>
            <a:spLocks xmlns:a="http://schemas.openxmlformats.org/drawingml/2006/main" noGrp="1"/>
          </p:cNvSpPr>
          <p:nvPr/>
        </p:nvSpPr>
        <p:spPr>
          <a:xfrm xmlns:a="http://schemas.openxmlformats.org/drawingml/2006/main">
            <a:off x="838200" y="1524000"/>
            <a:ext cx="13563600" cy="1466850"/>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left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talks, speakers, on="speaker_id",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left</a:t>
            </a:r>
          </a:p>
        </p:txBody>
      </p:sp>
      <p:graphicFrame>
        <p:nvGraphicFramePr>
          <p:cNvPr id="10" name=""/>
          <p:cNvGraphicFramePr/>
          <p:nvPr/>
        </p:nvGraphicFramePr>
        <p:xfrm>
          <a:off xmlns:a="http://schemas.openxmlformats.org/drawingml/2006/main" x="838200" y="3219450"/>
          <a:ext xmlns:a="http://schemas.openxmlformats.org/drawingml/2006/main" cx="13563600" cy="2914650"/>
        </p:xfrm>
        <a:graphic xmlns:a="http://schemas.openxmlformats.org/drawingml/2006/main">
          <a:graphicData uri="http://schemas.openxmlformats.org/drawingml/2006/table">
            <a:tbl>
              <a:tblPr firstRow="1" bandRow="0"/>
              <a:tblGrid>
                <a:gridCol w="2653748"/>
                <a:gridCol w="2948609"/>
                <a:gridCol w="2653748"/>
                <a:gridCol w="2653748"/>
                <a:gridCol w="2653748"/>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1600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EFEE22-F1E6-4F5C-98E1-D79B47C5BE1E}"/>
              </a:ext>
            </a:extLst>
          </p:cNvPr>
          <p:cNvSpPr>
            <a:spLocks xmlns:a="http://schemas.openxmlformats.org/drawingml/2006/main" noGrp="1"/>
          </p:cNvSpPr>
          <p:nvPr/>
        </p:nvSpPr>
        <p:spPr>
          <a:xfrm xmlns:a="http://schemas.openxmlformats.org/drawingml/2006/main">
            <a:off x="838200" y="63627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5 talks remain. T5 has no matching speaker record.</a:t>
            </a:r>
          </a:p>
        </p:txBody>
      </p:sp>
      <p:sp>
        <p:nvSpPr>
          <p:cNvPr id="5" name="">
            <a:extLst xmlns:a="http://schemas.openxmlformats.org/drawingml/2006/main">
              <a:ext uri="{FF2B5EF4-FFF2-40B4-BE49-F238E27FC236}">
                <a16:creationId xmlns:a16="http://schemas.microsoft.com/office/drawing/2014/main" id="{B8D8AAEE-F8B5-4898-82AF-E18F3109953A}"/>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11 / 35</a:t>
            </a:r>
          </a:p>
        </p:txBody>
      </p:sp>
    </p:spTree>
    <p:extLst>
      <p:ext uri="{BB962C8B-B14F-4D97-AF65-F5344CB8AC3E}">
        <p14:creationId xmlns:p14="http://schemas.microsoft.com/office/powerpoint/2010/main" val="28476205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23D7BD-41DB-4A81-BC01-A0030E49E85C}"/>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Prediction: an inner join</a:t>
            </a:r>
          </a:p>
        </p:txBody>
      </p:sp>
      <p:sp>
        <p:nvSpPr>
          <p:cNvPr id="2" name="">
            <a:extLst xmlns:a="http://schemas.openxmlformats.org/drawingml/2006/main">
              <a:ext uri="{FF2B5EF4-FFF2-40B4-BE49-F238E27FC236}">
                <a16:creationId xmlns:a16="http://schemas.microsoft.com/office/drawing/2014/main" id="{853625F9-E245-4EAF-945E-B887687D9250}"/>
              </a:ext>
            </a:extLst>
          </p:cNvPr>
          <p:cNvSpPr>
            <a:spLocks xmlns:a="http://schemas.openxmlformats.org/drawingml/2006/main" noGrp="1"/>
          </p:cNvSpPr>
          <p:nvPr/>
        </p:nvSpPr>
        <p:spPr>
          <a:xfrm xmlns:a="http://schemas.openxmlformats.org/drawingml/2006/main">
            <a:off x="83820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talks</a:t>
            </a:r>
          </a:p>
        </p:txBody>
      </p:sp>
      <p:graphicFrame>
        <p:nvGraphicFramePr>
          <p:cNvPr id="14" name=""/>
          <p:cNvGraphicFramePr/>
          <p:nvPr/>
        </p:nvGraphicFramePr>
        <p:xfrm>
          <a:off xmlns:a="http://schemas.openxmlformats.org/drawingml/2006/main" x="838200" y="1962150"/>
          <a:ext xmlns:a="http://schemas.openxmlformats.org/drawingml/2006/main" cx="6572250" cy="2914650"/>
        </p:xfrm>
        <a:graphic xmlns:a="http://schemas.openxmlformats.org/drawingml/2006/main">
          <a:graphicData uri="http://schemas.openxmlformats.org/drawingml/2006/table">
            <a:tbl>
              <a:tblPr firstRow="1" bandRow="0"/>
              <a:tblGrid>
                <a:gridCol w="2112509"/>
                <a:gridCol w="2347232"/>
                <a:gridCol w="2112509"/>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1600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ABB69FF-2DB2-4B65-B283-9853583580AF}"/>
              </a:ext>
            </a:extLst>
          </p:cNvPr>
          <p:cNvSpPr>
            <a:spLocks xmlns:a="http://schemas.openxmlformats.org/drawingml/2006/main" noGrp="1"/>
          </p:cNvSpPr>
          <p:nvPr/>
        </p:nvSpPr>
        <p:spPr>
          <a:xfrm xmlns:a="http://schemas.openxmlformats.org/drawingml/2006/main">
            <a:off x="782955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speakers</a:t>
            </a:r>
          </a:p>
        </p:txBody>
      </p:sp>
      <p:graphicFrame>
        <p:nvGraphicFramePr>
          <p:cNvPr id="16" name=""/>
          <p:cNvGraphicFramePr/>
          <p:nvPr/>
        </p:nvGraphicFramePr>
        <p:xfrm>
          <a:off xmlns:a="http://schemas.openxmlformats.org/drawingml/2006/main" x="7829550" y="1962150"/>
          <a:ext xmlns:a="http://schemas.openxmlformats.org/drawingml/2006/main" cx="6572250" cy="1943100"/>
        </p:xfrm>
        <a:graphic xmlns:a="http://schemas.openxmlformats.org/drawingml/2006/main">
          <a:graphicData uri="http://schemas.openxmlformats.org/drawingml/2006/table">
            <a:tbl>
              <a:tblPr firstRow="1" bandRow="0"/>
              <a:tblGrid>
                <a:gridCol w="2347232"/>
                <a:gridCol w="2112509"/>
                <a:gridCol w="2112509"/>
              </a:tblGrid>
              <a:tr h="485775">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S4</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Casey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162C47C-4635-4AC1-A6BC-D65B5F5C4A59}"/>
              </a:ext>
            </a:extLst>
          </p:cNvPr>
          <p:cNvSpPr>
            <a:spLocks xmlns:a="http://schemas.openxmlformats.org/drawingml/2006/main" noGrp="1"/>
          </p:cNvSpPr>
          <p:nvPr/>
        </p:nvSpPr>
        <p:spPr>
          <a:xfrm xmlns:a="http://schemas.openxmlformats.org/drawingml/2006/main">
            <a:off x="838200" y="52006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We now retain only matching pairs.</a:t>
            </a:r>
          </a:p>
        </p:txBody>
      </p:sp>
      <p:sp>
        <p:nvSpPr>
          <p:cNvPr id="7" name="">
            <a:extLst xmlns:a="http://schemas.openxmlformats.org/drawingml/2006/main">
              <a:ext uri="{FF2B5EF4-FFF2-40B4-BE49-F238E27FC236}">
                <a16:creationId xmlns:a16="http://schemas.microsoft.com/office/drawing/2014/main" id="{64601E20-FB98-4D4B-88D0-BAFA8B7E1AE9}"/>
              </a:ext>
            </a:extLst>
          </p:cNvPr>
          <p:cNvSpPr>
            <a:spLocks xmlns:a="http://schemas.openxmlformats.org/drawingml/2006/main" noGrp="1"/>
          </p:cNvSpPr>
          <p:nvPr/>
        </p:nvSpPr>
        <p:spPr>
          <a:xfrm xmlns:a="http://schemas.openxmlformats.org/drawingml/2006/main">
            <a:off x="838200" y="5895975"/>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Which talk disappears? How many rows remain? What population does the result describe?</a:t>
            </a:r>
          </a:p>
        </p:txBody>
      </p:sp>
      <p:sp>
        <p:nvSpPr>
          <p:cNvPr id="8" name="">
            <a:extLst xmlns:a="http://schemas.openxmlformats.org/drawingml/2006/main">
              <a:ext uri="{FF2B5EF4-FFF2-40B4-BE49-F238E27FC236}">
                <a16:creationId xmlns:a16="http://schemas.microsoft.com/office/drawing/2014/main" id="{3E4D6858-9A48-4FE8-916F-A6A3C5BDFDE2}"/>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12 / 35</a:t>
            </a:r>
          </a:p>
        </p:txBody>
      </p:sp>
    </p:spTree>
    <p:extLst>
      <p:ext uri="{BB962C8B-B14F-4D97-AF65-F5344CB8AC3E}">
        <p14:creationId xmlns:p14="http://schemas.microsoft.com/office/powerpoint/2010/main" val="16938061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FF77E3-C8F3-44E5-ADA5-389E3838E323}"/>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Inner join: matched talks only</a:t>
            </a:r>
          </a:p>
        </p:txBody>
      </p:sp>
      <p:sp>
        <p:nvSpPr>
          <p:cNvPr id="2" name="">
            <a:extLst xmlns:a="http://schemas.openxmlformats.org/drawingml/2006/main">
              <a:ext uri="{FF2B5EF4-FFF2-40B4-BE49-F238E27FC236}">
                <a16:creationId xmlns:a16="http://schemas.microsoft.com/office/drawing/2014/main" id="{0F2A41EF-BEDF-4604-9DC9-030232C38A61}"/>
              </a:ext>
            </a:extLst>
          </p:cNvPr>
          <p:cNvSpPr>
            <a:spLocks xmlns:a="http://schemas.openxmlformats.org/drawingml/2006/main" noGrp="1"/>
          </p:cNvSpPr>
          <p:nvPr/>
        </p:nvSpPr>
        <p:spPr>
          <a:xfrm xmlns:a="http://schemas.openxmlformats.org/drawingml/2006/main">
            <a:off x="838200" y="1524000"/>
            <a:ext cx="13563600" cy="1466850"/>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inner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talks, speakers, on="speaker_id", how="inner"</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inner</a:t>
            </a:r>
          </a:p>
        </p:txBody>
      </p:sp>
      <p:graphicFrame>
        <p:nvGraphicFramePr>
          <p:cNvPr id="10" name=""/>
          <p:cNvGraphicFramePr/>
          <p:nvPr/>
        </p:nvGraphicFramePr>
        <p:xfrm>
          <a:off xmlns:a="http://schemas.openxmlformats.org/drawingml/2006/main" x="838200" y="3219450"/>
          <a:ext xmlns:a="http://schemas.openxmlformats.org/drawingml/2006/main" cx="13563600" cy="2428875"/>
        </p:xfrm>
        <a:graphic xmlns:a="http://schemas.openxmlformats.org/drawingml/2006/main">
          <a:graphicData uri="http://schemas.openxmlformats.org/drawingml/2006/table">
            <a:tbl>
              <a:tblPr firstRow="1" bandRow="0"/>
              <a:tblGrid>
                <a:gridCol w="2653748"/>
                <a:gridCol w="2948609"/>
                <a:gridCol w="2653748"/>
                <a:gridCol w="2653748"/>
                <a:gridCol w="2653748"/>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bl>
          </a:graphicData>
        </a:graphic>
      </p:graphicFrame>
      <p:sp>
        <p:nvSpPr>
          <p:cNvPr id="4" name="">
            <a:extLst xmlns:a="http://schemas.openxmlformats.org/drawingml/2006/main">
              <a:ext uri="{FF2B5EF4-FFF2-40B4-BE49-F238E27FC236}">
                <a16:creationId xmlns:a16="http://schemas.microsoft.com/office/drawing/2014/main" id="{80E6633E-308C-40CB-9681-299C188B3E3D}"/>
              </a:ext>
            </a:extLst>
          </p:cNvPr>
          <p:cNvSpPr>
            <a:spLocks xmlns:a="http://schemas.openxmlformats.org/drawingml/2006/main" noGrp="1"/>
          </p:cNvSpPr>
          <p:nvPr/>
        </p:nvSpPr>
        <p:spPr>
          <a:xfrm xmlns:a="http://schemas.openxmlformats.org/drawingml/2006/main">
            <a:off x="838200" y="58769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4 rows remain. T5 disappears because S3 has no speaker record.</a:t>
            </a:r>
          </a:p>
        </p:txBody>
      </p:sp>
      <p:sp>
        <p:nvSpPr>
          <p:cNvPr id="5" name="">
            <a:extLst xmlns:a="http://schemas.openxmlformats.org/drawingml/2006/main">
              <a:ext uri="{FF2B5EF4-FFF2-40B4-BE49-F238E27FC236}">
                <a16:creationId xmlns:a16="http://schemas.microsoft.com/office/drawing/2014/main" id="{D4A3208D-AAF7-42EF-96AF-132FDD6BE571}"/>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13 / 35</a:t>
            </a:r>
          </a:p>
        </p:txBody>
      </p:sp>
    </p:spTree>
    <p:extLst>
      <p:ext uri="{BB962C8B-B14F-4D97-AF65-F5344CB8AC3E}">
        <p14:creationId xmlns:p14="http://schemas.microsoft.com/office/powerpoint/2010/main" val="529380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2ABD4A-B6AF-44A7-91C5-C5851B9A00F8}"/>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The _merge column records where keys match</a:t>
            </a:r>
          </a:p>
        </p:txBody>
      </p:sp>
      <p:sp>
        <p:nvSpPr>
          <p:cNvPr id="2" name="">
            <a:extLst xmlns:a="http://schemas.openxmlformats.org/drawingml/2006/main">
              <a:ext uri="{FF2B5EF4-FFF2-40B4-BE49-F238E27FC236}">
                <a16:creationId xmlns:a16="http://schemas.microsoft.com/office/drawing/2014/main" id="{16A23DDA-FE17-4E79-8D0E-AB665C36A18D}"/>
              </a:ext>
            </a:extLst>
          </p:cNvPr>
          <p:cNvSpPr>
            <a:spLocks xmlns:a="http://schemas.openxmlformats.org/drawingml/2006/main" noGrp="1"/>
          </p:cNvSpPr>
          <p:nvPr/>
        </p:nvSpPr>
        <p:spPr>
          <a:xfrm xmlns:a="http://schemas.openxmlformats.org/drawingml/2006/main">
            <a:off x="838200" y="1524000"/>
            <a:ext cx="13563600" cy="178117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audited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talks, speakers, on="speaker_id",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indicator=True,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audited[["talk_id", "speaker_id", "group", "_merge"]]</a:t>
            </a:r>
          </a:p>
        </p:txBody>
      </p:sp>
      <p:graphicFrame>
        <p:nvGraphicFramePr>
          <p:cNvPr id="10" name=""/>
          <p:cNvGraphicFramePr/>
          <p:nvPr/>
        </p:nvGraphicFramePr>
        <p:xfrm>
          <a:off xmlns:a="http://schemas.openxmlformats.org/drawingml/2006/main" x="838200" y="3533775"/>
          <a:ext xmlns:a="http://schemas.openxmlformats.org/drawingml/2006/main" cx="13563600" cy="2914650"/>
        </p:xfrm>
        <a:graphic xmlns:a="http://schemas.openxmlformats.org/drawingml/2006/main">
          <a:graphicData uri="http://schemas.openxmlformats.org/drawingml/2006/table">
            <a:tbl>
              <a:tblPr firstRow="1" bandRow="0"/>
              <a:tblGrid>
                <a:gridCol w="3299254"/>
                <a:gridCol w="3665838"/>
                <a:gridCol w="3299254"/>
                <a:gridCol w="3299254"/>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_merge</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left_only</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900FD83-2FE0-41D2-A17B-3719300F5A92}"/>
              </a:ext>
            </a:extLst>
          </p:cNvPr>
          <p:cNvSpPr>
            <a:spLocks xmlns:a="http://schemas.openxmlformats.org/drawingml/2006/main" noGrp="1"/>
          </p:cNvSpPr>
          <p:nvPr/>
        </p:nvSpPr>
        <p:spPr>
          <a:xfrm xmlns:a="http://schemas.openxmlformats.org/drawingml/2006/main">
            <a:off x="838200" y="66770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indicator=True adds _merge. Its values describe the source of each match.</a:t>
            </a:r>
          </a:p>
        </p:txBody>
      </p:sp>
      <p:sp>
        <p:nvSpPr>
          <p:cNvPr id="5" name="">
            <a:extLst xmlns:a="http://schemas.openxmlformats.org/drawingml/2006/main">
              <a:ext uri="{FF2B5EF4-FFF2-40B4-BE49-F238E27FC236}">
                <a16:creationId xmlns:a16="http://schemas.microsoft.com/office/drawing/2014/main" id="{065113ED-294A-4567-9AA2-F41EEA6EFCFA}"/>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14 / 35</a:t>
            </a:r>
          </a:p>
        </p:txBody>
      </p:sp>
    </p:spTree>
    <p:extLst>
      <p:ext uri="{BB962C8B-B14F-4D97-AF65-F5344CB8AC3E}">
        <p14:creationId xmlns:p14="http://schemas.microsoft.com/office/powerpoint/2010/main" val="80094555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F9A667-F17A-49CF-AE41-34E9C311913E}"/>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The three matching labels</a:t>
            </a:r>
          </a:p>
        </p:txBody>
      </p:sp>
      <p:graphicFrame>
        <p:nvGraphicFramePr>
          <p:cNvPr id="10" name=""/>
          <p:cNvGraphicFramePr/>
          <p:nvPr/>
        </p:nvGraphicFramePr>
        <p:xfrm>
          <a:off xmlns:a="http://schemas.openxmlformats.org/drawingml/2006/main" x="838200" y="1524000"/>
          <a:ext xmlns:a="http://schemas.openxmlformats.org/drawingml/2006/main" cx="13563600" cy="1943100"/>
        </p:xfrm>
        <a:graphic xmlns:a="http://schemas.openxmlformats.org/drawingml/2006/main">
          <a:graphicData uri="http://schemas.openxmlformats.org/drawingml/2006/table">
            <a:tbl>
              <a:tblPr firstRow="1" bandRow="0"/>
              <a:tblGrid>
                <a:gridCol w="3335311"/>
                <a:gridCol w="10228289"/>
              </a:tblGrid>
              <a:tr h="485775">
                <a:tc>
                  <a:txBody>
                    <a:bodyPr>
                      <a:noAutofit/>
                    </a:bodyPr>
                    <a:lstStyle/>
                    <a:p>
                      <a:r>
                        <a:rPr sz="1950" b="1">
                          <a:solidFill>
                            <a:srgbClr val="FFFFFF"/>
                          </a:solidFill>
                          <a:latin typeface="DejaVu Sans"/>
                          <a:ea typeface="DejaVu Sans"/>
                          <a:cs typeface="DejaVu Sans"/>
                        </a:rPr>
                        <a:t>Value in _merge</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Meaning</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The key matched a row in each input table</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left_only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The retained left row has no right-table match</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right_only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The retained right row has no left-table match</a:t>
                      </a:r>
                    </a:p>
                  </a:txBody>
                  <a:tcPr marL="95250" marR="95250" marT="57150" marB="5715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51E0729-F18B-4933-91DC-34689472CE62}"/>
              </a:ext>
            </a:extLst>
          </p:cNvPr>
          <p:cNvSpPr>
            <a:spLocks xmlns:a="http://schemas.openxmlformats.org/drawingml/2006/main" noGrp="1"/>
          </p:cNvSpPr>
          <p:nvPr/>
        </p:nvSpPr>
        <p:spPr>
          <a:xfrm xmlns:a="http://schemas.openxmlformats.org/drawingml/2006/main">
            <a:off x="838200" y="369570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Our left join contains both and left_only rows. It cannot contain right_only rows.</a:t>
            </a:r>
          </a:p>
        </p:txBody>
      </p:sp>
      <p:sp>
        <p:nvSpPr>
          <p:cNvPr id="4" name="">
            <a:extLst xmlns:a="http://schemas.openxmlformats.org/drawingml/2006/main">
              <a:ext uri="{FF2B5EF4-FFF2-40B4-BE49-F238E27FC236}">
                <a16:creationId xmlns:a16="http://schemas.microsoft.com/office/drawing/2014/main" id="{08FF0EEF-F2C0-4D85-A57F-3597871EBC13}"/>
              </a:ext>
            </a:extLst>
          </p:cNvPr>
          <p:cNvSpPr>
            <a:spLocks xmlns:a="http://schemas.openxmlformats.org/drawingml/2006/main" noGrp="1"/>
          </p:cNvSpPr>
          <p:nvPr/>
        </p:nvSpPr>
        <p:spPr>
          <a:xfrm xmlns:a="http://schemas.openxmlformats.org/drawingml/2006/main">
            <a:off x="838200" y="48006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An outer or right join would retain S4 as right_only.</a:t>
            </a:r>
          </a:p>
        </p:txBody>
      </p:sp>
      <p:sp>
        <p:nvSpPr>
          <p:cNvPr id="5" name="">
            <a:extLst xmlns:a="http://schemas.openxmlformats.org/drawingml/2006/main">
              <a:ext uri="{FF2B5EF4-FFF2-40B4-BE49-F238E27FC236}">
                <a16:creationId xmlns:a16="http://schemas.microsoft.com/office/drawing/2014/main" id="{79E88D74-1D6B-4B14-87C1-F72E6CCDB78E}"/>
              </a:ext>
            </a:extLst>
          </p:cNvPr>
          <p:cNvSpPr>
            <a:spLocks xmlns:a="http://schemas.openxmlformats.org/drawingml/2006/main" noGrp="1"/>
          </p:cNvSpPr>
          <p:nvPr/>
        </p:nvSpPr>
        <p:spPr>
          <a:xfrm xmlns:a="http://schemas.openxmlformats.org/drawingml/2006/main">
            <a:off x="838200" y="54959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row labeled both can still have missing metadata in another column.</a:t>
            </a:r>
          </a:p>
        </p:txBody>
      </p:sp>
      <p:sp>
        <p:nvSpPr>
          <p:cNvPr id="6" name="">
            <a:extLst xmlns:a="http://schemas.openxmlformats.org/drawingml/2006/main">
              <a:ext uri="{FF2B5EF4-FFF2-40B4-BE49-F238E27FC236}">
                <a16:creationId xmlns:a16="http://schemas.microsoft.com/office/drawing/2014/main" id="{58FD5C8D-44F9-47F9-BD55-20FE1D4BC038}"/>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15 / 35</a:t>
            </a:r>
          </a:p>
        </p:txBody>
      </p:sp>
    </p:spTree>
    <p:extLst>
      <p:ext uri="{BB962C8B-B14F-4D97-AF65-F5344CB8AC3E}">
        <p14:creationId xmlns:p14="http://schemas.microsoft.com/office/powerpoint/2010/main" val="12176693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C43E9A-561C-40B8-8195-03022DCE51E0}"/>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Equality produces a mask, then loc keeps rows</a:t>
            </a:r>
          </a:p>
        </p:txBody>
      </p:sp>
      <p:sp>
        <p:nvSpPr>
          <p:cNvPr id="2" name="">
            <a:extLst xmlns:a="http://schemas.openxmlformats.org/drawingml/2006/main">
              <a:ext uri="{FF2B5EF4-FFF2-40B4-BE49-F238E27FC236}">
                <a16:creationId xmlns:a16="http://schemas.microsoft.com/office/drawing/2014/main" id="{1FEA7E3F-7DD3-4CDE-8B24-C44949F4D620}"/>
              </a:ext>
            </a:extLst>
          </p:cNvPr>
          <p:cNvSpPr>
            <a:spLocks xmlns:a="http://schemas.openxmlformats.org/drawingml/2006/main" noGrp="1"/>
          </p:cNvSpPr>
          <p:nvPr/>
        </p:nvSpPr>
        <p:spPr>
          <a:xfrm xmlns:a="http://schemas.openxmlformats.org/drawingml/2006/main">
            <a:off x="838200" y="1524000"/>
            <a:ext cx="13563600" cy="11525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mask = audited["_merge"].eq("left_only")</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unmatched = audited.loc[mask]</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unmatched[["talk_id", "speaker_id", "_merge"]]</a:t>
            </a:r>
          </a:p>
        </p:txBody>
      </p:sp>
      <p:graphicFrame>
        <p:nvGraphicFramePr>
          <p:cNvPr id="14" name=""/>
          <p:cNvGraphicFramePr/>
          <p:nvPr/>
        </p:nvGraphicFramePr>
        <p:xfrm>
          <a:off xmlns:a="http://schemas.openxmlformats.org/drawingml/2006/main" x="838200" y="2905125"/>
          <a:ext xmlns:a="http://schemas.openxmlformats.org/drawingml/2006/main" cx="6572250" cy="2914650"/>
        </p:xfrm>
        <a:graphic xmlns:a="http://schemas.openxmlformats.org/drawingml/2006/main">
          <a:graphicData uri="http://schemas.openxmlformats.org/drawingml/2006/table">
            <a:tbl>
              <a:tblPr firstRow="1" bandRow="0"/>
              <a:tblGrid>
                <a:gridCol w="2190750"/>
                <a:gridCol w="2190750"/>
                <a:gridCol w="2190750"/>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_merge</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mask</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False</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False</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False</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both</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False</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left_only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True</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2A8D1A-A77E-4CE9-858C-D69EFF2CBAB3}"/>
              </a:ext>
            </a:extLst>
          </p:cNvPr>
          <p:cNvSpPr>
            <a:spLocks xmlns:a="http://schemas.openxmlformats.org/drawingml/2006/main" noGrp="1"/>
          </p:cNvSpPr>
          <p:nvPr/>
        </p:nvSpPr>
        <p:spPr>
          <a:xfrm xmlns:a="http://schemas.openxmlformats.org/drawingml/2006/main">
            <a:off x="7829550" y="2905125"/>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unmatched</a:t>
            </a:r>
          </a:p>
        </p:txBody>
      </p:sp>
      <p:graphicFrame>
        <p:nvGraphicFramePr>
          <p:cNvPr id="16" name=""/>
          <p:cNvGraphicFramePr/>
          <p:nvPr/>
        </p:nvGraphicFramePr>
        <p:xfrm>
          <a:off xmlns:a="http://schemas.openxmlformats.org/drawingml/2006/main" x="7829550" y="3343275"/>
          <a:ext xmlns:a="http://schemas.openxmlformats.org/drawingml/2006/main" cx="6572250" cy="800100"/>
        </p:xfrm>
        <a:graphic xmlns:a="http://schemas.openxmlformats.org/drawingml/2006/main">
          <a:graphicData uri="http://schemas.openxmlformats.org/drawingml/2006/table">
            <a:tbl>
              <a:tblPr firstRow="1" bandRow="0"/>
              <a:tblGrid>
                <a:gridCol w="2112509"/>
                <a:gridCol w="2347232"/>
                <a:gridCol w="2112509"/>
              </a:tblGrid>
              <a:tr h="400050">
                <a:tc>
                  <a:txBody>
                    <a:bodyPr>
                      <a:noAutofit/>
                    </a:bodyPr>
                    <a:lstStyle/>
                    <a:p>
                      <a:r>
                        <a:rPr sz="180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_merge</a:t>
                      </a:r>
                    </a:p>
                  </a:txBody>
                  <a:tcPr marL="95250" marR="95250" marT="57150" marB="57150">
                    <a:solidFill>
                      <a:srgbClr val="002E5D"/>
                    </a:solidFill>
                  </a:tcPr>
                </a:tc>
              </a:tr>
              <a:tr h="400050">
                <a:tc>
                  <a:txBody>
                    <a:bodyPr>
                      <a:noAutofit/>
                    </a:bodyPr>
                    <a:lstStyle/>
                    <a:p>
                      <a:r>
                        <a:rPr sz="180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S3</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left_only</a:t>
                      </a:r>
                    </a:p>
                  </a:txBody>
                  <a:tcPr marL="95250" marR="95250" marT="57150" marB="5715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106D55-0497-4690-B058-8B53094A9C10}"/>
              </a:ext>
            </a:extLst>
          </p:cNvPr>
          <p:cNvSpPr>
            <a:spLocks xmlns:a="http://schemas.openxmlformats.org/drawingml/2006/main" noGrp="1"/>
          </p:cNvSpPr>
          <p:nvPr/>
        </p:nvSpPr>
        <p:spPr>
          <a:xfrm xmlns:a="http://schemas.openxmlformats.org/drawingml/2006/main">
            <a:off x="838200" y="6143625"/>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.eq("left_only") compares each value with the string "left_only". It is equivalent to == "left_only".</a:t>
            </a:r>
          </a:p>
        </p:txBody>
      </p:sp>
      <p:sp>
        <p:nvSpPr>
          <p:cNvPr id="7" name="">
            <a:extLst xmlns:a="http://schemas.openxmlformats.org/drawingml/2006/main">
              <a:ext uri="{FF2B5EF4-FFF2-40B4-BE49-F238E27FC236}">
                <a16:creationId xmlns:a16="http://schemas.microsoft.com/office/drawing/2014/main" id="{F0445CB9-EBAF-42AD-8280-6738846568E0}"/>
              </a:ext>
            </a:extLst>
          </p:cNvPr>
          <p:cNvSpPr>
            <a:spLocks xmlns:a="http://schemas.openxmlformats.org/drawingml/2006/main" noGrp="1"/>
          </p:cNvSpPr>
          <p:nvPr/>
        </p:nvSpPr>
        <p:spPr>
          <a:xfrm xmlns:a="http://schemas.openxmlformats.org/drawingml/2006/main">
            <a:off x="838200" y="72485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.loc[mask] keeps the rows whose mask is True. Here, only T5 remains.</a:t>
            </a:r>
          </a:p>
        </p:txBody>
      </p:sp>
      <p:sp>
        <p:nvSpPr>
          <p:cNvPr id="8" name="">
            <a:extLst xmlns:a="http://schemas.openxmlformats.org/drawingml/2006/main">
              <a:ext uri="{FF2B5EF4-FFF2-40B4-BE49-F238E27FC236}">
                <a16:creationId xmlns:a16="http://schemas.microsoft.com/office/drawing/2014/main" id="{EEA8CD8E-2872-42E2-BF98-CBA3F9C1EB4D}"/>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16 / 35</a:t>
            </a:r>
          </a:p>
        </p:txBody>
      </p:sp>
    </p:spTree>
    <p:extLst>
      <p:ext uri="{BB962C8B-B14F-4D97-AF65-F5344CB8AC3E}">
        <p14:creationId xmlns:p14="http://schemas.microsoft.com/office/powerpoint/2010/main" val="3696712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CB3F66-819C-4616-8EA7-7791F7A063CD}"/>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 summary after joining</a:t>
            </a:r>
          </a:p>
        </p:txBody>
      </p:sp>
      <p:sp>
        <p:nvSpPr>
          <p:cNvPr id="2" name="">
            <a:extLst xmlns:a="http://schemas.openxmlformats.org/drawingml/2006/main">
              <a:ext uri="{FF2B5EF4-FFF2-40B4-BE49-F238E27FC236}">
                <a16:creationId xmlns:a16="http://schemas.microsoft.com/office/drawing/2014/main" id="{72C52F41-97AF-4DEE-AA4D-41B2C73428B9}"/>
              </a:ext>
            </a:extLst>
          </p:cNvPr>
          <p:cNvSpPr>
            <a:spLocks xmlns:a="http://schemas.openxmlformats.org/drawingml/2006/main" noGrp="1"/>
          </p:cNvSpPr>
          <p:nvPr/>
        </p:nvSpPr>
        <p:spPr>
          <a:xfrm xmlns:a="http://schemas.openxmlformats.org/drawingml/2006/main">
            <a:off x="838200" y="1524000"/>
            <a:ext cx="13563600" cy="178117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summary = (</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left.groupby("group", dropna=False, as_index=False)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.agg(n_talks=("talk_id", "size"),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mean_words=("num_words", "mean"))</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p:txBody>
      </p:sp>
      <p:graphicFrame>
        <p:nvGraphicFramePr>
          <p:cNvPr id="11" name=""/>
          <p:cNvGraphicFramePr/>
          <p:nvPr/>
        </p:nvGraphicFramePr>
        <p:xfrm>
          <a:off xmlns:a="http://schemas.openxmlformats.org/drawingml/2006/main" x="838200" y="3533775"/>
          <a:ext xmlns:a="http://schemas.openxmlformats.org/drawingml/2006/main" cx="13563600" cy="1943100"/>
        </p:xfrm>
        <a:graphic xmlns:a="http://schemas.openxmlformats.org/drawingml/2006/main">
          <a:graphicData uri="http://schemas.openxmlformats.org/drawingml/2006/table">
            <a:tbl>
              <a:tblPr firstRow="1" bandRow="0"/>
              <a:tblGrid>
                <a:gridCol w="4359729"/>
                <a:gridCol w="4359729"/>
                <a:gridCol w="4844143"/>
              </a:tblGrid>
              <a:tr h="485775">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n_talks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mean_words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2400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1600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22D4B15-E7C8-468C-91F7-2C554A0EF825}"/>
              </a:ext>
            </a:extLst>
          </p:cNvPr>
          <p:cNvSpPr>
            <a:spLocks xmlns:a="http://schemas.openxmlformats.org/drawingml/2006/main" noGrp="1"/>
          </p:cNvSpPr>
          <p:nvPr/>
        </p:nvSpPr>
        <p:spPr>
          <a:xfrm xmlns:a="http://schemas.openxmlformats.org/drawingml/2006/main">
            <a:off x="838200" y="57054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dropna=False retains the talk whose group is unknown.</a:t>
            </a:r>
          </a:p>
        </p:txBody>
      </p:sp>
      <p:sp>
        <p:nvSpPr>
          <p:cNvPr id="5" name="">
            <a:extLst xmlns:a="http://schemas.openxmlformats.org/drawingml/2006/main">
              <a:ext uri="{FF2B5EF4-FFF2-40B4-BE49-F238E27FC236}">
                <a16:creationId xmlns:a16="http://schemas.microsoft.com/office/drawing/2014/main" id="{3D9EC7FF-CAAE-468A-B7B7-5427B64BEF31}"/>
              </a:ext>
            </a:extLst>
          </p:cNvPr>
          <p:cNvSpPr>
            <a:spLocks xmlns:a="http://schemas.openxmlformats.org/drawingml/2006/main" noGrp="1"/>
          </p:cNvSpPr>
          <p:nvPr/>
        </p:nvSpPr>
        <p:spPr>
          <a:xfrm xmlns:a="http://schemas.openxmlformats.org/drawingml/2006/main">
            <a:off x="838200" y="64008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These means weight talks equally. They do not weight speakers equally.</a:t>
            </a:r>
          </a:p>
        </p:txBody>
      </p:sp>
      <p:sp>
        <p:nvSpPr>
          <p:cNvPr id="6" name="">
            <a:extLst xmlns:a="http://schemas.openxmlformats.org/drawingml/2006/main">
              <a:ext uri="{FF2B5EF4-FFF2-40B4-BE49-F238E27FC236}">
                <a16:creationId xmlns:a16="http://schemas.microsoft.com/office/drawing/2014/main" id="{CF87CCBC-B60D-4813-9BB6-F2CE90B84C3C}"/>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17 / 35</a:t>
            </a:r>
          </a:p>
        </p:txBody>
      </p:sp>
    </p:spTree>
    <p:extLst>
      <p:ext uri="{BB962C8B-B14F-4D97-AF65-F5344CB8AC3E}">
        <p14:creationId xmlns:p14="http://schemas.microsoft.com/office/powerpoint/2010/main" val="17082552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9D35DD-28CD-4A2D-B927-779B074A35A1}"/>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Prediction: a duplicated speaker key</a:t>
            </a:r>
          </a:p>
        </p:txBody>
      </p:sp>
      <p:sp>
        <p:nvSpPr>
          <p:cNvPr id="2" name="">
            <a:extLst xmlns:a="http://schemas.openxmlformats.org/drawingml/2006/main">
              <a:ext uri="{FF2B5EF4-FFF2-40B4-BE49-F238E27FC236}">
                <a16:creationId xmlns:a16="http://schemas.microsoft.com/office/drawing/2014/main" id="{18DBA30F-6BB7-40FB-AB47-559984CDBD41}"/>
              </a:ext>
            </a:extLst>
          </p:cNvPr>
          <p:cNvSpPr>
            <a:spLocks xmlns:a="http://schemas.openxmlformats.org/drawingml/2006/main" noGrp="1"/>
          </p:cNvSpPr>
          <p:nvPr/>
        </p:nvSpPr>
        <p:spPr>
          <a:xfrm xmlns:a="http://schemas.openxmlformats.org/drawingml/2006/main">
            <a:off x="83820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Three talks for S1</a:t>
            </a:r>
          </a:p>
        </p:txBody>
      </p:sp>
      <p:graphicFrame>
        <p:nvGraphicFramePr>
          <p:cNvPr id="14" name=""/>
          <p:cNvGraphicFramePr/>
          <p:nvPr/>
        </p:nvGraphicFramePr>
        <p:xfrm>
          <a:off xmlns:a="http://schemas.openxmlformats.org/drawingml/2006/main" x="838200" y="1962150"/>
          <a:ext xmlns:a="http://schemas.openxmlformats.org/drawingml/2006/main" cx="6572250" cy="1943100"/>
        </p:xfrm>
        <a:graphic xmlns:a="http://schemas.openxmlformats.org/drawingml/2006/main">
          <a:graphicData uri="http://schemas.openxmlformats.org/drawingml/2006/table">
            <a:tbl>
              <a:tblPr firstRow="1" bandRow="0"/>
              <a:tblGrid>
                <a:gridCol w="2112509"/>
                <a:gridCol w="2347232"/>
                <a:gridCol w="2112509"/>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num_words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1000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51CF8A8-E6B7-45C2-989F-F997E7DFA531}"/>
              </a:ext>
            </a:extLst>
          </p:cNvPr>
          <p:cNvSpPr>
            <a:spLocks xmlns:a="http://schemas.openxmlformats.org/drawingml/2006/main" noGrp="1"/>
          </p:cNvSpPr>
          <p:nvPr/>
        </p:nvSpPr>
        <p:spPr>
          <a:xfrm xmlns:a="http://schemas.openxmlformats.org/drawingml/2006/main">
            <a:off x="782955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Two speaker records for S1</a:t>
            </a:r>
          </a:p>
        </p:txBody>
      </p:sp>
      <p:graphicFrame>
        <p:nvGraphicFramePr>
          <p:cNvPr id="16" name=""/>
          <p:cNvGraphicFramePr/>
          <p:nvPr/>
        </p:nvGraphicFramePr>
        <p:xfrm>
          <a:off xmlns:a="http://schemas.openxmlformats.org/drawingml/2006/main" x="7829550" y="1962150"/>
          <a:ext xmlns:a="http://schemas.openxmlformats.org/drawingml/2006/main" cx="6572250" cy="1457325"/>
        </p:xfrm>
        <a:graphic xmlns:a="http://schemas.openxmlformats.org/drawingml/2006/main">
          <a:graphicData uri="http://schemas.openxmlformats.org/drawingml/2006/table">
            <a:tbl>
              <a:tblPr firstRow="1" bandRow="0"/>
              <a:tblGrid>
                <a:gridCol w="2347232"/>
                <a:gridCol w="2112509"/>
                <a:gridCol w="2112509"/>
              </a:tblGrid>
              <a:tr h="485775">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D9E38197-EC56-4503-932E-74F72DEA4C2E}"/>
              </a:ext>
            </a:extLst>
          </p:cNvPr>
          <p:cNvSpPr>
            <a:spLocks xmlns:a="http://schemas.openxmlformats.org/drawingml/2006/main" noGrp="1"/>
          </p:cNvSpPr>
          <p:nvPr/>
        </p:nvSpPr>
        <p:spPr>
          <a:xfrm xmlns:a="http://schemas.openxmlformats.org/drawingml/2006/main">
            <a:off x="838200" y="42291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We match speaker_id again. How many rows will S1 contribute?</a:t>
            </a:r>
          </a:p>
        </p:txBody>
      </p:sp>
      <p:sp>
        <p:nvSpPr>
          <p:cNvPr id="7" name="">
            <a:extLst xmlns:a="http://schemas.openxmlformats.org/drawingml/2006/main">
              <a:ext uri="{FF2B5EF4-FFF2-40B4-BE49-F238E27FC236}">
                <a16:creationId xmlns:a16="http://schemas.microsoft.com/office/drawing/2014/main" id="{CBB82A80-BE26-4C0E-8FED-24A47618110C}"/>
              </a:ext>
            </a:extLst>
          </p:cNvPr>
          <p:cNvSpPr>
            <a:spLocks xmlns:a="http://schemas.openxmlformats.org/drawingml/2006/main" noGrp="1"/>
          </p:cNvSpPr>
          <p:nvPr/>
        </p:nvSpPr>
        <p:spPr>
          <a:xfrm xmlns:a="http://schemas.openxmlformats.org/drawingml/2006/main">
            <a:off x="838200" y="49244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How many rows will the full left join contain?</a:t>
            </a:r>
          </a:p>
        </p:txBody>
      </p:sp>
      <p:sp>
        <p:nvSpPr>
          <p:cNvPr id="8" name="">
            <a:extLst xmlns:a="http://schemas.openxmlformats.org/drawingml/2006/main">
              <a:ext uri="{FF2B5EF4-FFF2-40B4-BE49-F238E27FC236}">
                <a16:creationId xmlns:a16="http://schemas.microsoft.com/office/drawing/2014/main" id="{9EF0A680-67DE-4844-9D0C-5765A94E35E7}"/>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18 / 35</a:t>
            </a:r>
          </a:p>
        </p:txBody>
      </p:sp>
    </p:spTree>
    <p:extLst>
      <p:ext uri="{BB962C8B-B14F-4D97-AF65-F5344CB8AC3E}">
        <p14:creationId xmlns:p14="http://schemas.microsoft.com/office/powerpoint/2010/main" val="127657868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1E1E50-3794-4EA4-BEF3-28E03C25951D}"/>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Each matching pair produces a row</a:t>
            </a:r>
          </a:p>
        </p:txBody>
      </p:sp>
      <p:sp>
        <p:nvSpPr>
          <p:cNvPr id="2" name="">
            <a:extLst xmlns:a="http://schemas.openxmlformats.org/drawingml/2006/main">
              <a:ext uri="{FF2B5EF4-FFF2-40B4-BE49-F238E27FC236}">
                <a16:creationId xmlns:a16="http://schemas.microsoft.com/office/drawing/2014/main" id="{A2C189A4-7347-42E7-8E8F-D54256D81D05}"/>
              </a:ext>
            </a:extLst>
          </p:cNvPr>
          <p:cNvSpPr>
            <a:spLocks xmlns:a="http://schemas.openxmlformats.org/drawingml/2006/main" noGrp="1"/>
          </p:cNvSpPr>
          <p:nvPr/>
        </p:nvSpPr>
        <p:spPr>
          <a:xfrm xmlns:a="http://schemas.openxmlformats.org/drawingml/2006/main">
            <a:off x="838200" y="1524000"/>
            <a:ext cx="13563600" cy="11525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bad = pd.merge(talks, speakers_conflicting,</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on="speaker_id",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bad[["talk_id", "speaker_id", "num_words", "group"]]</a:t>
            </a:r>
          </a:p>
        </p:txBody>
      </p:sp>
      <p:graphicFrame>
        <p:nvGraphicFramePr>
          <p:cNvPr id="10" name=""/>
          <p:cNvGraphicFramePr/>
          <p:nvPr/>
        </p:nvGraphicFramePr>
        <p:xfrm>
          <a:off xmlns:a="http://schemas.openxmlformats.org/drawingml/2006/main" x="838200" y="2905125"/>
          <a:ext xmlns:a="http://schemas.openxmlformats.org/drawingml/2006/main" cx="13563600" cy="3600450"/>
        </p:xfrm>
        <a:graphic xmlns:a="http://schemas.openxmlformats.org/drawingml/2006/main">
          <a:graphicData uri="http://schemas.openxmlformats.org/drawingml/2006/table">
            <a:tbl>
              <a:tblPr firstRow="1" bandRow="0"/>
              <a:tblGrid>
                <a:gridCol w="3299254"/>
                <a:gridCol w="3665838"/>
                <a:gridCol w="3299254"/>
                <a:gridCol w="3299254"/>
              </a:tblGrid>
              <a:tr h="400050">
                <a:tc>
                  <a:txBody>
                    <a:bodyPr>
                      <a:noAutofit/>
                    </a:bodyPr>
                    <a:lstStyle/>
                    <a:p>
                      <a:r>
                        <a:rPr sz="180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num_words</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group</a:t>
                      </a:r>
                    </a:p>
                  </a:txBody>
                  <a:tcPr marL="95250" marR="95250" marT="57150" marB="57150">
                    <a:solidFill>
                      <a:srgbClr val="002E5D"/>
                    </a:solidFill>
                  </a:tcPr>
                </a:tc>
              </a:tr>
              <a:tr h="400050">
                <a:tc>
                  <a:txBody>
                    <a:bodyPr>
                      <a:noAutofit/>
                    </a:bodyPr>
                    <a:lstStyle/>
                    <a:p>
                      <a:r>
                        <a:rPr sz="180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1000</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T1</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1000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T2</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1200</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1200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1400</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T3</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1400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T4</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S2</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2400</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T5</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S3</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1600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NA</a:t>
                      </a:r>
                    </a:p>
                  </a:txBody>
                  <a:tcPr marL="95250" marR="95250" marT="57150" marB="57150">
                    <a:solidFill>
                      <a:srgbClr val="F2F6F9"/>
                    </a:solidFill>
                  </a:tcPr>
                </a:tc>
              </a:tr>
            </a:tbl>
          </a:graphicData>
        </a:graphic>
      </p:graphicFrame>
      <p:sp>
        <p:nvSpPr>
          <p:cNvPr id="4" name="">
            <a:extLst xmlns:a="http://schemas.openxmlformats.org/drawingml/2006/main">
              <a:ext uri="{FF2B5EF4-FFF2-40B4-BE49-F238E27FC236}">
                <a16:creationId xmlns:a16="http://schemas.microsoft.com/office/drawing/2014/main" id="{EDF86452-8B2C-4ACB-A1C2-61072075FD03}"/>
              </a:ext>
            </a:extLst>
          </p:cNvPr>
          <p:cNvSpPr>
            <a:spLocks xmlns:a="http://schemas.openxmlformats.org/drawingml/2006/main" noGrp="1"/>
          </p:cNvSpPr>
          <p:nvPr/>
        </p:nvSpPr>
        <p:spPr>
          <a:xfrm xmlns:a="http://schemas.openxmlformats.org/drawingml/2006/main">
            <a:off x="838200" y="67341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S1 contributes 3 × 2 = 6 pairs. The complete left join contains 8 rows.</a:t>
            </a:r>
          </a:p>
        </p:txBody>
      </p:sp>
      <p:sp>
        <p:nvSpPr>
          <p:cNvPr id="5" name="">
            <a:extLst xmlns:a="http://schemas.openxmlformats.org/drawingml/2006/main">
              <a:ext uri="{FF2B5EF4-FFF2-40B4-BE49-F238E27FC236}">
                <a16:creationId xmlns:a16="http://schemas.microsoft.com/office/drawing/2014/main" id="{BA579B4D-908D-404B-B6BB-ABF723DF933A}"/>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19 / 35</a:t>
            </a:r>
          </a:p>
        </p:txBody>
      </p:sp>
    </p:spTree>
    <p:extLst>
      <p:ext uri="{BB962C8B-B14F-4D97-AF65-F5344CB8AC3E}">
        <p14:creationId xmlns:p14="http://schemas.microsoft.com/office/powerpoint/2010/main" val="6044936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DA94F9-2EB2-4409-BDA3-CECF04560ED1}"/>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Join size from key frequencies</a:t>
            </a:r>
          </a:p>
        </p:txBody>
      </p:sp>
      <p:sp>
        <p:nvSpPr>
          <p:cNvPr id="2" name="">
            <a:extLst xmlns:a="http://schemas.openxmlformats.org/drawingml/2006/main">
              <a:ext uri="{FF2B5EF4-FFF2-40B4-BE49-F238E27FC236}">
                <a16:creationId xmlns:a16="http://schemas.microsoft.com/office/drawing/2014/main" id="{4C36CF22-B1BE-43CB-9FCB-FBA788FB6773}"/>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For a key with m left rows and n right rows, an inner join produces m × n rows.</a:t>
            </a:r>
          </a:p>
        </p:txBody>
      </p:sp>
      <p:graphicFrame>
        <p:nvGraphicFramePr>
          <p:cNvPr id="11" name=""/>
          <p:cNvGraphicFramePr/>
          <p:nvPr/>
        </p:nvGraphicFramePr>
        <p:xfrm>
          <a:off xmlns:a="http://schemas.openxmlformats.org/drawingml/2006/main" x="838200" y="2219325"/>
          <a:ext xmlns:a="http://schemas.openxmlformats.org/drawingml/2006/main" cx="13563600" cy="1943100"/>
        </p:xfrm>
        <a:graphic xmlns:a="http://schemas.openxmlformats.org/drawingml/2006/main">
          <a:graphicData uri="http://schemas.openxmlformats.org/drawingml/2006/table">
            <a:tbl>
              <a:tblPr firstRow="1" bandRow="0"/>
              <a:tblGrid>
                <a:gridCol w="4617396"/>
                <a:gridCol w="4905983"/>
                <a:gridCol w="4040221"/>
              </a:tblGrid>
              <a:tr h="485775">
                <a:tc>
                  <a:txBody>
                    <a:bodyPr>
                      <a:noAutofit/>
                    </a:bodyPr>
                    <a:lstStyle/>
                    <a:p>
                      <a:r>
                        <a:rPr sz="1950" b="1">
                          <a:solidFill>
                            <a:srgbClr val="FFFFFF"/>
                          </a:solidFill>
                          <a:latin typeface="DejaVu Sans"/>
                          <a:ea typeface="DejaVu Sans"/>
                          <a:cs typeface="DejaVu Sans"/>
                        </a:rPr>
                        <a:t>Left frequency m</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Right frequency n</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Matching pairs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6</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CAFBD35-030D-42DD-8856-EEA0158A5B02}"/>
              </a:ext>
            </a:extLst>
          </p:cNvPr>
          <p:cNvSpPr>
            <a:spLocks xmlns:a="http://schemas.openxmlformats.org/drawingml/2006/main" noGrp="1"/>
          </p:cNvSpPr>
          <p:nvPr/>
        </p:nvSpPr>
        <p:spPr>
          <a:xfrm xmlns:a="http://schemas.openxmlformats.org/drawingml/2006/main">
            <a:off x="838200" y="43910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left join contributes m × max(n, 1) rows for that key.</a:t>
            </a:r>
          </a:p>
        </p:txBody>
      </p:sp>
      <p:sp>
        <p:nvSpPr>
          <p:cNvPr id="5" name="">
            <a:extLst xmlns:a="http://schemas.openxmlformats.org/drawingml/2006/main">
              <a:ext uri="{FF2B5EF4-FFF2-40B4-BE49-F238E27FC236}">
                <a16:creationId xmlns:a16="http://schemas.microsoft.com/office/drawing/2014/main" id="{B96408CD-4AF4-4BF8-A808-46C8109F4F5C}"/>
              </a:ext>
            </a:extLst>
          </p:cNvPr>
          <p:cNvSpPr>
            <a:spLocks xmlns:a="http://schemas.openxmlformats.org/drawingml/2006/main" noGrp="1"/>
          </p:cNvSpPr>
          <p:nvPr/>
        </p:nvSpPr>
        <p:spPr>
          <a:xfrm xmlns:a="http://schemas.openxmlformats.org/drawingml/2006/main">
            <a:off x="838200" y="50863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unmatched S3 talk contributes one row to the left join.</a:t>
            </a:r>
          </a:p>
        </p:txBody>
      </p:sp>
      <p:sp>
        <p:nvSpPr>
          <p:cNvPr id="6" name="">
            <a:extLst xmlns:a="http://schemas.openxmlformats.org/drawingml/2006/main">
              <a:ext uri="{FF2B5EF4-FFF2-40B4-BE49-F238E27FC236}">
                <a16:creationId xmlns:a16="http://schemas.microsoft.com/office/drawing/2014/main" id="{A47FA9AE-A8E8-4781-BFE6-FA2716024631}"/>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20 / 35</a:t>
            </a:r>
          </a:p>
        </p:txBody>
      </p:sp>
    </p:spTree>
    <p:extLst>
      <p:ext uri="{BB962C8B-B14F-4D97-AF65-F5344CB8AC3E}">
        <p14:creationId xmlns:p14="http://schemas.microsoft.com/office/powerpoint/2010/main" val="2205559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D5834B-ED8B-49C6-8E3C-EDA6C11603FB}"/>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Pair activity: enriching talks</a:t>
            </a:r>
          </a:p>
        </p:txBody>
      </p:sp>
      <p:sp>
        <p:nvSpPr>
          <p:cNvPr id="2" name="">
            <a:extLst xmlns:a="http://schemas.openxmlformats.org/drawingml/2006/main">
              <a:ext uri="{FF2B5EF4-FFF2-40B4-BE49-F238E27FC236}">
                <a16:creationId xmlns:a16="http://schemas.microsoft.com/office/drawing/2014/main" id="{188A1AC5-3564-4F5A-BE31-369531958948}"/>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Open student_activity.py in this repo and run its setup cell.</a:t>
            </a:r>
          </a:p>
        </p:txBody>
      </p:sp>
      <p:sp>
        <p:nvSpPr>
          <p:cNvPr id="3" name="">
            <a:extLst xmlns:a="http://schemas.openxmlformats.org/drawingml/2006/main">
              <a:ext uri="{FF2B5EF4-FFF2-40B4-BE49-F238E27FC236}">
                <a16:creationId xmlns:a16="http://schemas.microsoft.com/office/drawing/2014/main" id="{5D14F6A2-2E36-4018-B454-E29E7C6E40A7}"/>
              </a:ext>
            </a:extLst>
          </p:cNvPr>
          <p:cNvSpPr>
            <a:spLocks xmlns:a="http://schemas.openxmlformats.org/drawingml/2006/main" noGrp="1"/>
          </p:cNvSpPr>
          <p:nvPr/>
        </p:nvSpPr>
        <p:spPr>
          <a:xfrm xmlns:a="http://schemas.openxmlformats.org/drawingml/2006/main">
            <a:off x="838200" y="22193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Goal: retain every talk and compare mean word count by speaker group.</a:t>
            </a:r>
          </a:p>
        </p:txBody>
      </p:sp>
      <p:sp>
        <p:nvSpPr>
          <p:cNvPr id="4" name="">
            <a:extLst xmlns:a="http://schemas.openxmlformats.org/drawingml/2006/main">
              <a:ext uri="{FF2B5EF4-FFF2-40B4-BE49-F238E27FC236}">
                <a16:creationId xmlns:a16="http://schemas.microsoft.com/office/drawing/2014/main" id="{3EA3501F-C511-464C-93EA-4DE56CD698E3}"/>
              </a:ext>
            </a:extLst>
          </p:cNvPr>
          <p:cNvSpPr>
            <a:spLocks xmlns:a="http://schemas.openxmlformats.org/drawingml/2006/main" noGrp="1"/>
          </p:cNvSpPr>
          <p:nvPr/>
        </p:nvSpPr>
        <p:spPr>
          <a:xfrm xmlns:a="http://schemas.openxmlformats.org/drawingml/2006/main">
            <a:off x="838200" y="2914650"/>
            <a:ext cx="13563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1. Predict the relationship and the left-join row count.</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2. Join the clean speaker table to talks.</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3. Identify unmatched talks.</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4. Summarize talk counts and mean word counts by group.</a:t>
            </a:r>
          </a:p>
        </p:txBody>
      </p:sp>
      <p:sp>
        <p:nvSpPr>
          <p:cNvPr id="5" name="">
            <a:extLst xmlns:a="http://schemas.openxmlformats.org/drawingml/2006/main">
              <a:ext uri="{FF2B5EF4-FFF2-40B4-BE49-F238E27FC236}">
                <a16:creationId xmlns:a16="http://schemas.microsoft.com/office/drawing/2014/main" id="{9B401AC7-B0D6-4826-8C98-C17B30E7E8F6}"/>
              </a:ext>
            </a:extLst>
          </p:cNvPr>
          <p:cNvSpPr>
            <a:spLocks xmlns:a="http://schemas.openxmlformats.org/drawingml/2006/main" noGrp="1"/>
          </p:cNvSpPr>
          <p:nvPr/>
        </p:nvSpPr>
        <p:spPr>
          <a:xfrm xmlns:a="http://schemas.openxmlformats.org/drawingml/2006/main">
            <a:off x="838200" y="48387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Use the first 7 minutes. Keep the unknown group visible.</a:t>
            </a:r>
          </a:p>
        </p:txBody>
      </p:sp>
      <p:sp>
        <p:nvSpPr>
          <p:cNvPr id="6" name="">
            <a:extLst xmlns:a="http://schemas.openxmlformats.org/drawingml/2006/main">
              <a:ext uri="{FF2B5EF4-FFF2-40B4-BE49-F238E27FC236}">
                <a16:creationId xmlns:a16="http://schemas.microsoft.com/office/drawing/2014/main" id="{0EE2A485-3B50-4EC5-9672-4D81868A0EB2}"/>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21 / 35</a:t>
            </a:r>
          </a:p>
        </p:txBody>
      </p:sp>
    </p:spTree>
    <p:extLst>
      <p:ext uri="{BB962C8B-B14F-4D97-AF65-F5344CB8AC3E}">
        <p14:creationId xmlns:p14="http://schemas.microsoft.com/office/powerpoint/2010/main" val="45489770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ECA6E8-3433-4C81-A505-119CE34070B7}"/>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Pair activity: an unexpected result</a:t>
            </a:r>
          </a:p>
        </p:txBody>
      </p:sp>
      <p:sp>
        <p:nvSpPr>
          <p:cNvPr id="2" name="">
            <a:extLst xmlns:a="http://schemas.openxmlformats.org/drawingml/2006/main">
              <a:ext uri="{FF2B5EF4-FFF2-40B4-BE49-F238E27FC236}">
                <a16:creationId xmlns:a16="http://schemas.microsoft.com/office/drawing/2014/main" id="{BBE8A041-3D9E-45F1-A49F-DA5C65C7B297}"/>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Run the supplied join with speakers_conflicting.</a:t>
            </a:r>
          </a:p>
        </p:txBody>
      </p:sp>
      <p:sp>
        <p:nvSpPr>
          <p:cNvPr id="3" name="">
            <a:extLst xmlns:a="http://schemas.openxmlformats.org/drawingml/2006/main">
              <a:ext uri="{FF2B5EF4-FFF2-40B4-BE49-F238E27FC236}">
                <a16:creationId xmlns:a16="http://schemas.microsoft.com/office/drawing/2014/main" id="{5CAA71D4-7709-4C3D-958A-A0E488093980}"/>
              </a:ext>
            </a:extLst>
          </p:cNvPr>
          <p:cNvSpPr>
            <a:spLocks xmlns:a="http://schemas.openxmlformats.org/drawingml/2006/main" noGrp="1"/>
          </p:cNvSpPr>
          <p:nvPr/>
        </p:nvSpPr>
        <p:spPr>
          <a:xfrm xmlns:a="http://schemas.openxmlformats.org/drawingml/2006/main">
            <a:off x="838200" y="2219325"/>
            <a:ext cx="13563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5. Explain the new row count using key frequencies.</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6. Identify the talks that appear more than once.</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7. Inspect the conflicting speaker records.</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8. Propose a repair using the documented record_status rule.</a:t>
            </a:r>
          </a:p>
        </p:txBody>
      </p:sp>
      <p:sp>
        <p:nvSpPr>
          <p:cNvPr id="4" name="">
            <a:extLst xmlns:a="http://schemas.openxmlformats.org/drawingml/2006/main">
              <a:ext uri="{FF2B5EF4-FFF2-40B4-BE49-F238E27FC236}">
                <a16:creationId xmlns:a16="http://schemas.microsoft.com/office/drawing/2014/main" id="{F9137983-0781-4B2A-B7CB-0861B89DC8C7}"/>
              </a:ext>
            </a:extLst>
          </p:cNvPr>
          <p:cNvSpPr>
            <a:spLocks xmlns:a="http://schemas.openxmlformats.org/drawingml/2006/main" noGrp="1"/>
          </p:cNvSpPr>
          <p:nvPr/>
        </p:nvSpPr>
        <p:spPr>
          <a:xfrm xmlns:a="http://schemas.openxmlformats.org/drawingml/2006/main">
            <a:off x="838200" y="41433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Use the remaining 8 minutes. Prepare to explain why the repair is justified.</a:t>
            </a:r>
          </a:p>
        </p:txBody>
      </p:sp>
      <p:sp>
        <p:nvSpPr>
          <p:cNvPr id="5" name="">
            <a:extLst xmlns:a="http://schemas.openxmlformats.org/drawingml/2006/main">
              <a:ext uri="{FF2B5EF4-FFF2-40B4-BE49-F238E27FC236}">
                <a16:creationId xmlns:a16="http://schemas.microsoft.com/office/drawing/2014/main" id="{4383D525-719A-4438-ADBF-275743E97EF4}"/>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22 / 35</a:t>
            </a:r>
          </a:p>
        </p:txBody>
      </p:sp>
    </p:spTree>
    <p:extLst>
      <p:ext uri="{BB962C8B-B14F-4D97-AF65-F5344CB8AC3E}">
        <p14:creationId xmlns:p14="http://schemas.microsoft.com/office/powerpoint/2010/main" val="91737324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4B9ABF-6AC6-4D32-AEDC-31CC3A157FE7}"/>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Activity debrief: the clean join</a:t>
            </a:r>
          </a:p>
        </p:txBody>
      </p:sp>
      <p:graphicFrame>
        <p:nvGraphicFramePr>
          <p:cNvPr id="10" name=""/>
          <p:cNvGraphicFramePr/>
          <p:nvPr/>
        </p:nvGraphicFramePr>
        <p:xfrm>
          <a:off xmlns:a="http://schemas.openxmlformats.org/drawingml/2006/main" x="838200" y="1524000"/>
          <a:ext xmlns:a="http://schemas.openxmlformats.org/drawingml/2006/main" cx="13563600" cy="2428875"/>
        </p:xfrm>
        <a:graphic xmlns:a="http://schemas.openxmlformats.org/drawingml/2006/main">
          <a:graphicData uri="http://schemas.openxmlformats.org/drawingml/2006/table">
            <a:tbl>
              <a:tblPr firstRow="1" bandRow="0"/>
              <a:tblGrid>
                <a:gridCol w="6547945"/>
                <a:gridCol w="7015655"/>
              </a:tblGrid>
              <a:tr h="485775">
                <a:tc>
                  <a:txBody>
                    <a:bodyPr>
                      <a:noAutofit/>
                    </a:bodyPr>
                    <a:lstStyle/>
                    <a:p>
                      <a:r>
                        <a:rPr sz="1950" b="1">
                          <a:solidFill>
                            <a:srgbClr val="FFFFFF"/>
                          </a:solidFill>
                          <a:latin typeface="DejaVu Sans"/>
                          <a:ea typeface="DejaVu Sans"/>
                          <a:cs typeface="DejaVu Sans"/>
                        </a:rPr>
                        <a:t>Check</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Result</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Input talks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12</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Joined rows</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12</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Matched talks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11</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Unmatched talk</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A12, speaker S9</a:t>
                      </a:r>
                    </a:p>
                  </a:txBody>
                  <a:tcPr marL="95250" marR="95250" marT="57150" marB="57150">
                    <a:solidFill>
                      <a:srgbClr val="F2F6F9"/>
                    </a:solidFill>
                  </a:tcPr>
                </a:tc>
              </a:tr>
            </a:tbl>
          </a:graphicData>
        </a:graphic>
      </p:graphicFrame>
      <p:graphicFrame>
        <p:nvGraphicFramePr>
          <p:cNvPr id="11" name=""/>
          <p:cNvGraphicFramePr/>
          <p:nvPr/>
        </p:nvGraphicFramePr>
        <p:xfrm>
          <a:off xmlns:a="http://schemas.openxmlformats.org/drawingml/2006/main" x="838200" y="4181475"/>
          <a:ext xmlns:a="http://schemas.openxmlformats.org/drawingml/2006/main" cx="13563600" cy="1943100"/>
        </p:xfrm>
        <a:graphic xmlns:a="http://schemas.openxmlformats.org/drawingml/2006/main">
          <a:graphicData uri="http://schemas.openxmlformats.org/drawingml/2006/table">
            <a:tbl>
              <a:tblPr firstRow="1" bandRow="0"/>
              <a:tblGrid>
                <a:gridCol w="4359729"/>
                <a:gridCol w="4359729"/>
                <a:gridCol w="4844143"/>
              </a:tblGrid>
              <a:tr h="485775">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n_talks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mean_words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6</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1500</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5</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1960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2100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8C44227-9D5C-45F3-8A29-3122D1E67C04}"/>
              </a:ext>
            </a:extLst>
          </p:cNvPr>
          <p:cNvSpPr>
            <a:spLocks xmlns:a="http://schemas.openxmlformats.org/drawingml/2006/main" noGrp="1"/>
          </p:cNvSpPr>
          <p:nvPr/>
        </p:nvSpPr>
        <p:spPr>
          <a:xfrm xmlns:a="http://schemas.openxmlformats.org/drawingml/2006/main">
            <a:off x="838200" y="63531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group counts sum to all 12 talks.</a:t>
            </a:r>
          </a:p>
        </p:txBody>
      </p:sp>
      <p:sp>
        <p:nvSpPr>
          <p:cNvPr id="5" name="">
            <a:extLst xmlns:a="http://schemas.openxmlformats.org/drawingml/2006/main">
              <a:ext uri="{FF2B5EF4-FFF2-40B4-BE49-F238E27FC236}">
                <a16:creationId xmlns:a16="http://schemas.microsoft.com/office/drawing/2014/main" id="{B6F7AB9F-9997-4B6B-911F-9FA43928FC10}"/>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23 / 35</a:t>
            </a:r>
          </a:p>
        </p:txBody>
      </p:sp>
    </p:spTree>
    <p:extLst>
      <p:ext uri="{BB962C8B-B14F-4D97-AF65-F5344CB8AC3E}">
        <p14:creationId xmlns:p14="http://schemas.microsoft.com/office/powerpoint/2010/main" val="8832801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57533FC-236A-4CFA-AC79-90EE4D9F738A}"/>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Activity debrief: the extra rows</a:t>
            </a:r>
          </a:p>
        </p:txBody>
      </p:sp>
      <p:graphicFrame>
        <p:nvGraphicFramePr>
          <p:cNvPr id="10" name=""/>
          <p:cNvGraphicFramePr/>
          <p:nvPr/>
        </p:nvGraphicFramePr>
        <p:xfrm>
          <a:off xmlns:a="http://schemas.openxmlformats.org/drawingml/2006/main" x="838200" y="1524000"/>
          <a:ext xmlns:a="http://schemas.openxmlformats.org/drawingml/2006/main" cx="13563600" cy="1457325"/>
        </p:xfrm>
        <a:graphic xmlns:a="http://schemas.openxmlformats.org/drawingml/2006/main">
          <a:graphicData uri="http://schemas.openxmlformats.org/drawingml/2006/table">
            <a:tbl>
              <a:tblPr firstRow="1" bandRow="0"/>
              <a:tblGrid>
                <a:gridCol w="3308195"/>
                <a:gridCol w="2977376"/>
                <a:gridCol w="2977376"/>
                <a:gridCol w="4300654"/>
              </a:tblGrid>
              <a:tr h="485775">
                <a:tc>
                  <a:txBody>
                    <a:bodyPr>
                      <a:noAutofit/>
                    </a:bodyPr>
                    <a:lstStyle/>
                    <a:p>
                      <a:r>
                        <a:rPr sz="1950" b="1">
                          <a:solidFill>
                            <a:srgbClr val="FFFFFF"/>
                          </a:solidFill>
                          <a:latin typeface="DejaVu Sans"/>
                          <a:ea typeface="DejaVu Sans"/>
                          <a:cs typeface="DejaVu Sans"/>
                        </a:rPr>
                        <a:t>speaker_id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group</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record_status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current</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retired</a:t>
                      </a:r>
                    </a:p>
                  </a:txBody>
                  <a:tcPr marL="95250" marR="95250" marT="57150" marB="57150">
                    <a:solidFill>
                      <a:srgbClr val="F2F6F9"/>
                    </a:solidFill>
                  </a:tcPr>
                </a:tc>
              </a:tr>
            </a:tbl>
          </a:graphicData>
        </a:graphic>
      </p:graphicFrame>
      <p:sp>
        <p:nvSpPr>
          <p:cNvPr id="3" name="">
            <a:extLst xmlns:a="http://schemas.openxmlformats.org/drawingml/2006/main">
              <a:ext uri="{FF2B5EF4-FFF2-40B4-BE49-F238E27FC236}">
                <a16:creationId xmlns:a16="http://schemas.microsoft.com/office/drawing/2014/main" id="{6F6FB89A-4B7B-4EBF-8ED1-E8BBB76E1397}"/>
              </a:ext>
            </a:extLst>
          </p:cNvPr>
          <p:cNvSpPr>
            <a:spLocks xmlns:a="http://schemas.openxmlformats.org/drawingml/2006/main" noGrp="1"/>
          </p:cNvSpPr>
          <p:nvPr/>
        </p:nvSpPr>
        <p:spPr>
          <a:xfrm xmlns:a="http://schemas.openxmlformats.org/drawingml/2006/main">
            <a:off x="838200" y="32099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S1 has 4 talks and 2 matching records, producing 8 rows.</a:t>
            </a:r>
          </a:p>
        </p:txBody>
      </p:sp>
      <p:sp>
        <p:nvSpPr>
          <p:cNvPr id="4" name="">
            <a:extLst xmlns:a="http://schemas.openxmlformats.org/drawingml/2006/main">
              <a:ext uri="{FF2B5EF4-FFF2-40B4-BE49-F238E27FC236}">
                <a16:creationId xmlns:a16="http://schemas.microsoft.com/office/drawing/2014/main" id="{9646C08A-66CB-4921-989B-4742AC4F3764}"/>
              </a:ext>
            </a:extLst>
          </p:cNvPr>
          <p:cNvSpPr>
            <a:spLocks xmlns:a="http://schemas.openxmlformats.org/drawingml/2006/main" noGrp="1"/>
          </p:cNvSpPr>
          <p:nvPr/>
        </p:nvSpPr>
        <p:spPr>
          <a:xfrm xmlns:a="http://schemas.openxmlformats.org/drawingml/2006/main">
            <a:off x="838200" y="39052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join contains 16 rows. A01, A02, A03, and A04 each appear twice.</a:t>
            </a:r>
          </a:p>
        </p:txBody>
      </p:sp>
      <p:sp>
        <p:nvSpPr>
          <p:cNvPr id="5" name="">
            <a:extLst xmlns:a="http://schemas.openxmlformats.org/drawingml/2006/main">
              <a:ext uri="{FF2B5EF4-FFF2-40B4-BE49-F238E27FC236}">
                <a16:creationId xmlns:a16="http://schemas.microsoft.com/office/drawing/2014/main" id="{ECC5E738-1C14-4A52-B12D-709B8D16835A}"/>
              </a:ext>
            </a:extLst>
          </p:cNvPr>
          <p:cNvSpPr>
            <a:spLocks xmlns:a="http://schemas.openxmlformats.org/drawingml/2006/main" noGrp="1"/>
          </p:cNvSpPr>
          <p:nvPr/>
        </p:nvSpPr>
        <p:spPr>
          <a:xfrm xmlns:a="http://schemas.openxmlformats.org/drawingml/2006/main">
            <a:off x="838200" y="46005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output mixes current and retired classifications for the same speaker.</a:t>
            </a:r>
          </a:p>
        </p:txBody>
      </p:sp>
      <p:sp>
        <p:nvSpPr>
          <p:cNvPr id="6" name="">
            <a:extLst xmlns:a="http://schemas.openxmlformats.org/drawingml/2006/main">
              <a:ext uri="{FF2B5EF4-FFF2-40B4-BE49-F238E27FC236}">
                <a16:creationId xmlns:a16="http://schemas.microsoft.com/office/drawing/2014/main" id="{843BD48F-4869-4221-BEB4-3E2E53B5A8F6}"/>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24 / 35</a:t>
            </a:r>
          </a:p>
        </p:txBody>
      </p:sp>
    </p:spTree>
    <p:extLst>
      <p:ext uri="{BB962C8B-B14F-4D97-AF65-F5344CB8AC3E}">
        <p14:creationId xmlns:p14="http://schemas.microsoft.com/office/powerpoint/2010/main" val="14463505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EE7DE0-3A4E-434F-A7A9-CBB0375C4E96}"/>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Validation enforces the expected relationship</a:t>
            </a:r>
          </a:p>
        </p:txBody>
      </p:sp>
      <p:sp>
        <p:nvSpPr>
          <p:cNvPr id="2" name="">
            <a:extLst xmlns:a="http://schemas.openxmlformats.org/drawingml/2006/main">
              <a:ext uri="{FF2B5EF4-FFF2-40B4-BE49-F238E27FC236}">
                <a16:creationId xmlns:a16="http://schemas.microsoft.com/office/drawing/2014/main" id="{3DAFD7D8-B6D2-40D0-ADF6-6B1CA4D455DB}"/>
              </a:ext>
            </a:extLst>
          </p:cNvPr>
          <p:cNvSpPr>
            <a:spLocks xmlns:a="http://schemas.openxmlformats.org/drawingml/2006/main" noGrp="1"/>
          </p:cNvSpPr>
          <p:nvPr/>
        </p:nvSpPr>
        <p:spPr>
          <a:xfrm xmlns:a="http://schemas.openxmlformats.org/drawingml/2006/main">
            <a:off x="838200" y="1524000"/>
            <a:ext cx="13563600" cy="178117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activity_talks, speakers_conflicting,</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on="speaker_id",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validate="many_to_one",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FC08C741-5780-4982-8CC4-7A5239DF9D46}"/>
              </a:ext>
            </a:extLst>
          </p:cNvPr>
          <p:cNvSpPr>
            <a:spLocks xmlns:a="http://schemas.openxmlformats.org/drawingml/2006/main" noGrp="1"/>
          </p:cNvSpPr>
          <p:nvPr/>
        </p:nvSpPr>
        <p:spPr>
          <a:xfrm xmlns:a="http://schemas.openxmlformats.org/drawingml/2006/main">
            <a:off x="838200" y="35337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MergeError: Merge keys are not unique in right dataset; not a many-to-one merge</a:t>
            </a:r>
          </a:p>
        </p:txBody>
      </p:sp>
      <p:sp>
        <p:nvSpPr>
          <p:cNvPr id="4" name="">
            <a:extLst xmlns:a="http://schemas.openxmlformats.org/drawingml/2006/main">
              <a:ext uri="{FF2B5EF4-FFF2-40B4-BE49-F238E27FC236}">
                <a16:creationId xmlns:a16="http://schemas.microsoft.com/office/drawing/2014/main" id="{D9F316DE-6230-4236-BE64-1D6CA841C63F}"/>
              </a:ext>
            </a:extLst>
          </p:cNvPr>
          <p:cNvSpPr>
            <a:spLocks xmlns:a="http://schemas.openxmlformats.org/drawingml/2006/main" noGrp="1"/>
          </p:cNvSpPr>
          <p:nvPr/>
        </p:nvSpPr>
        <p:spPr>
          <a:xfrm xmlns:a="http://schemas.openxmlformats.org/drawingml/2006/main">
            <a:off x="838200" y="42291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many_to_one checks the right key. It permits repeated speaker IDs in talks.</a:t>
            </a:r>
          </a:p>
        </p:txBody>
      </p:sp>
      <p:sp>
        <p:nvSpPr>
          <p:cNvPr id="5" name="">
            <a:extLst xmlns:a="http://schemas.openxmlformats.org/drawingml/2006/main">
              <a:ext uri="{FF2B5EF4-FFF2-40B4-BE49-F238E27FC236}">
                <a16:creationId xmlns:a16="http://schemas.microsoft.com/office/drawing/2014/main" id="{0F6912BB-41AB-4823-90D4-88DFAE6B0AF9}"/>
              </a:ext>
            </a:extLst>
          </p:cNvPr>
          <p:cNvSpPr>
            <a:spLocks xmlns:a="http://schemas.openxmlformats.org/drawingml/2006/main" noGrp="1"/>
          </p:cNvSpPr>
          <p:nvPr/>
        </p:nvSpPr>
        <p:spPr>
          <a:xfrm xmlns:a="http://schemas.openxmlformats.org/drawingml/2006/main">
            <a:off x="838200" y="4924425"/>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Validation checks key uniqueness. It does not guarantee that every talk matches.</a:t>
            </a:r>
          </a:p>
        </p:txBody>
      </p:sp>
      <p:sp>
        <p:nvSpPr>
          <p:cNvPr id="6" name="">
            <a:extLst xmlns:a="http://schemas.openxmlformats.org/drawingml/2006/main">
              <a:ext uri="{FF2B5EF4-FFF2-40B4-BE49-F238E27FC236}">
                <a16:creationId xmlns:a16="http://schemas.microsoft.com/office/drawing/2014/main" id="{7837FC23-A4F8-4A8E-93FB-6DC798E6EEB4}"/>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25 / 35</a:t>
            </a:r>
          </a:p>
        </p:txBody>
      </p:sp>
    </p:spTree>
    <p:extLst>
      <p:ext uri="{BB962C8B-B14F-4D97-AF65-F5344CB8AC3E}">
        <p14:creationId xmlns:p14="http://schemas.microsoft.com/office/powerpoint/2010/main" val="150168706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5A5FA1-EA6F-4E84-B3FB-E2637BDFF1F8}"/>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 repair based on the data meaning</a:t>
            </a:r>
          </a:p>
        </p:txBody>
      </p:sp>
      <p:sp>
        <p:nvSpPr>
          <p:cNvPr id="2" name="">
            <a:extLst xmlns:a="http://schemas.openxmlformats.org/drawingml/2006/main">
              <a:ext uri="{FF2B5EF4-FFF2-40B4-BE49-F238E27FC236}">
                <a16:creationId xmlns:a16="http://schemas.microsoft.com/office/drawing/2014/main" id="{CBABB83F-1AD6-486C-A79E-249998826EF9}"/>
              </a:ext>
            </a:extLst>
          </p:cNvPr>
          <p:cNvSpPr>
            <a:spLocks xmlns:a="http://schemas.openxmlformats.org/drawingml/2006/main" noGrp="1"/>
          </p:cNvSpPr>
          <p:nvPr/>
        </p:nvSpPr>
        <p:spPr>
          <a:xfrm xmlns:a="http://schemas.openxmlformats.org/drawingml/2006/main">
            <a:off x="838200" y="1524000"/>
            <a:ext cx="6572250" cy="36671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current = speakers_conflicting.loc[</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speakers_conflicting["record_status"]</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.eq("current")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fixed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activity_talks, current,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on="speaker_id",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validate="many_to_one",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indicator=True,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fixed[["talk_id", "group", "_merge"]]</a:t>
            </a:r>
          </a:p>
        </p:txBody>
      </p:sp>
      <p:graphicFrame>
        <p:nvGraphicFramePr>
          <p:cNvPr id="10" name=""/>
          <p:cNvGraphicFramePr/>
          <p:nvPr/>
        </p:nvGraphicFramePr>
        <p:xfrm>
          <a:off xmlns:a="http://schemas.openxmlformats.org/drawingml/2006/main" x="7829550" y="1524000"/>
          <a:ext xmlns:a="http://schemas.openxmlformats.org/drawingml/2006/main" cx="6572250" cy="5200650"/>
        </p:xfrm>
        <a:graphic xmlns:a="http://schemas.openxmlformats.org/drawingml/2006/main">
          <a:graphicData uri="http://schemas.openxmlformats.org/drawingml/2006/table">
            <a:tbl>
              <a:tblPr firstRow="1" bandRow="0"/>
              <a:tblGrid>
                <a:gridCol w="2190750"/>
                <a:gridCol w="2190750"/>
                <a:gridCol w="2190750"/>
              </a:tblGrid>
              <a:tr h="400050">
                <a:tc>
                  <a:txBody>
                    <a:bodyPr>
                      <a:noAutofit/>
                    </a:bodyPr>
                    <a:lstStyle/>
                    <a:p>
                      <a:r>
                        <a:rPr sz="180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group</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_merge</a:t>
                      </a:r>
                    </a:p>
                  </a:txBody>
                  <a:tcPr marL="95250" marR="95250" marT="57150" marB="57150">
                    <a:solidFill>
                      <a:srgbClr val="002E5D"/>
                    </a:solidFill>
                  </a:tcPr>
                </a:tc>
              </a:tr>
              <a:tr h="400050">
                <a:tc>
                  <a:txBody>
                    <a:bodyPr>
                      <a:noAutofit/>
                    </a:bodyPr>
                    <a:lstStyle/>
                    <a:p>
                      <a:r>
                        <a:rPr sz="1800" b="0">
                          <a:solidFill>
                            <a:srgbClr val="20394C"/>
                          </a:solidFill>
                          <a:latin typeface="DejaVu Sans"/>
                          <a:ea typeface="DejaVu Sans"/>
                          <a:cs typeface="DejaVu Sans"/>
                        </a:rPr>
                        <a:t>A01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A02</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A03</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A04</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A06</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A07</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A08</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A09</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A10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A11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both</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A12</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NA</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left_only</a:t>
                      </a:r>
                    </a:p>
                  </a:txBody>
                  <a:tcPr marL="95250" marR="95250" marT="57150" marB="57150">
                    <a:solidFill>
                      <a:srgbClr val="F2F6F9"/>
                    </a:solidFill>
                  </a:tcPr>
                </a:tc>
              </a:tr>
            </a:tbl>
          </a:graphicData>
        </a:graphic>
      </p:graphicFrame>
      <p:sp>
        <p:nvSpPr>
          <p:cNvPr id="4" name="">
            <a:extLst xmlns:a="http://schemas.openxmlformats.org/drawingml/2006/main">
              <a:ext uri="{FF2B5EF4-FFF2-40B4-BE49-F238E27FC236}">
                <a16:creationId xmlns:a16="http://schemas.microsoft.com/office/drawing/2014/main" id="{170E84C5-9E4A-45FF-BA69-279AFAC1E954}"/>
              </a:ext>
            </a:extLst>
          </p:cNvPr>
          <p:cNvSpPr>
            <a:spLocks xmlns:a="http://schemas.openxmlformats.org/drawingml/2006/main" noGrp="1"/>
          </p:cNvSpPr>
          <p:nvPr/>
        </p:nvSpPr>
        <p:spPr>
          <a:xfrm xmlns:a="http://schemas.openxmlformats.org/drawingml/2006/main">
            <a:off x="838200" y="70485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status rule restores 12 rows. A12 still lacks a speaker record.</a:t>
            </a:r>
          </a:p>
        </p:txBody>
      </p:sp>
      <p:sp>
        <p:nvSpPr>
          <p:cNvPr id="5" name="">
            <a:extLst xmlns:a="http://schemas.openxmlformats.org/drawingml/2006/main">
              <a:ext uri="{FF2B5EF4-FFF2-40B4-BE49-F238E27FC236}">
                <a16:creationId xmlns:a16="http://schemas.microsoft.com/office/drawing/2014/main" id="{899D40FF-6DDE-4759-BA31-C76E2F3B383C}"/>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26 / 35</a:t>
            </a:r>
          </a:p>
        </p:txBody>
      </p:sp>
    </p:spTree>
    <p:extLst>
      <p:ext uri="{BB962C8B-B14F-4D97-AF65-F5344CB8AC3E}">
        <p14:creationId xmlns:p14="http://schemas.microsoft.com/office/powerpoint/2010/main" val="2803469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A44512-27E5-40E9-A2D6-66ECE61B8B0D}"/>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Row multiplication changes the analysis</a:t>
            </a:r>
          </a:p>
        </p:txBody>
      </p:sp>
      <p:sp>
        <p:nvSpPr>
          <p:cNvPr id="2" name="">
            <a:extLst xmlns:a="http://schemas.openxmlformats.org/drawingml/2006/main">
              <a:ext uri="{FF2B5EF4-FFF2-40B4-BE49-F238E27FC236}">
                <a16:creationId xmlns:a16="http://schemas.microsoft.com/office/drawing/2014/main" id="{0E592F18-B61F-457B-9DDE-977CF53C0D9D}"/>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Return to the five-talk demonstration.</a:t>
            </a:r>
          </a:p>
        </p:txBody>
      </p:sp>
      <p:graphicFrame>
        <p:nvGraphicFramePr>
          <p:cNvPr id="11" name=""/>
          <p:cNvGraphicFramePr/>
          <p:nvPr/>
        </p:nvGraphicFramePr>
        <p:xfrm>
          <a:off xmlns:a="http://schemas.openxmlformats.org/drawingml/2006/main" x="838200" y="2219325"/>
          <a:ext xmlns:a="http://schemas.openxmlformats.org/drawingml/2006/main" cx="13563600" cy="1943100"/>
        </p:xfrm>
        <a:graphic xmlns:a="http://schemas.openxmlformats.org/drawingml/2006/main">
          <a:graphicData uri="http://schemas.openxmlformats.org/drawingml/2006/table">
            <a:tbl>
              <a:tblPr firstRow="1" bandRow="0"/>
              <a:tblGrid>
                <a:gridCol w="3616960"/>
                <a:gridCol w="3164840"/>
                <a:gridCol w="6781800"/>
              </a:tblGrid>
              <a:tr h="485775">
                <a:tc>
                  <a:txBody>
                    <a:bodyPr>
                      <a:noAutofit/>
                    </a:bodyPr>
                    <a:lstStyle/>
                    <a:p>
                      <a:r>
                        <a:rPr sz="1950" b="1">
                          <a:solidFill>
                            <a:srgbClr val="FFFFFF"/>
                          </a:solidFill>
                          <a:latin typeface="DejaVu Sans"/>
                          <a:ea typeface="DejaVu Sans"/>
                          <a:cs typeface="DejaVu Sans"/>
                        </a:rPr>
                        <a:t>Quantity</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Original talks</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Join with conflicting speakers</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Rows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8</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Total word count</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7,600</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11,200</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Mean word count</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1,520</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1,400</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C94BD0F-8986-43AB-A5A9-E3ED94A214E4}"/>
              </a:ext>
            </a:extLst>
          </p:cNvPr>
          <p:cNvSpPr>
            <a:spLocks xmlns:a="http://schemas.openxmlformats.org/drawingml/2006/main" noGrp="1"/>
          </p:cNvSpPr>
          <p:nvPr/>
        </p:nvSpPr>
        <p:spPr>
          <a:xfrm xmlns:a="http://schemas.openxmlformats.org/drawingml/2006/main">
            <a:off x="838200" y="43910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Duplicating S1 gives its shorter talks more weight.</a:t>
            </a:r>
          </a:p>
        </p:txBody>
      </p:sp>
      <p:sp>
        <p:nvSpPr>
          <p:cNvPr id="5" name="">
            <a:extLst xmlns:a="http://schemas.openxmlformats.org/drawingml/2006/main">
              <a:ext uri="{FF2B5EF4-FFF2-40B4-BE49-F238E27FC236}">
                <a16:creationId xmlns:a16="http://schemas.microsoft.com/office/drawing/2014/main" id="{46855046-A4B5-4B93-91A9-89DB0E38C5F7}"/>
              </a:ext>
            </a:extLst>
          </p:cNvPr>
          <p:cNvSpPr>
            <a:spLocks xmlns:a="http://schemas.openxmlformats.org/drawingml/2006/main" noGrp="1"/>
          </p:cNvSpPr>
          <p:nvPr/>
        </p:nvSpPr>
        <p:spPr>
          <a:xfrm xmlns:a="http://schemas.openxmlformats.org/drawingml/2006/main">
            <a:off x="838200" y="50863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successful merge can still produce a misleading summary.</a:t>
            </a:r>
          </a:p>
        </p:txBody>
      </p:sp>
      <p:sp>
        <p:nvSpPr>
          <p:cNvPr id="6" name="">
            <a:extLst xmlns:a="http://schemas.openxmlformats.org/drawingml/2006/main">
              <a:ext uri="{FF2B5EF4-FFF2-40B4-BE49-F238E27FC236}">
                <a16:creationId xmlns:a16="http://schemas.microsoft.com/office/drawing/2014/main" id="{D1D47BF6-14B4-4319-B381-2224DE0BA1D3}"/>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27 / 35</a:t>
            </a:r>
          </a:p>
        </p:txBody>
      </p:sp>
    </p:spTree>
    <p:extLst>
      <p:ext uri="{BB962C8B-B14F-4D97-AF65-F5344CB8AC3E}">
        <p14:creationId xmlns:p14="http://schemas.microsoft.com/office/powerpoint/2010/main" val="104222462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E28A09-F341-4C38-9D54-15992ABCC11C}"/>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Prediction: a composite key</a:t>
            </a:r>
          </a:p>
        </p:txBody>
      </p:sp>
      <p:sp>
        <p:nvSpPr>
          <p:cNvPr id="2" name="">
            <a:extLst xmlns:a="http://schemas.openxmlformats.org/drawingml/2006/main">
              <a:ext uri="{FF2B5EF4-FFF2-40B4-BE49-F238E27FC236}">
                <a16:creationId xmlns:a16="http://schemas.microsoft.com/office/drawing/2014/main" id="{46726AE2-6676-4D89-8235-ADB95FD12041}"/>
              </a:ext>
            </a:extLst>
          </p:cNvPr>
          <p:cNvSpPr>
            <a:spLocks xmlns:a="http://schemas.openxmlformats.org/drawingml/2006/main" noGrp="1"/>
          </p:cNvSpPr>
          <p:nvPr/>
        </p:nvSpPr>
        <p:spPr>
          <a:xfrm xmlns:a="http://schemas.openxmlformats.org/drawingml/2006/main">
            <a:off x="83820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Talks (first three)</a:t>
            </a:r>
          </a:p>
        </p:txBody>
      </p:sp>
      <p:graphicFrame>
        <p:nvGraphicFramePr>
          <p:cNvPr id="14" name=""/>
          <p:cNvGraphicFramePr/>
          <p:nvPr/>
        </p:nvGraphicFramePr>
        <p:xfrm>
          <a:off xmlns:a="http://schemas.openxmlformats.org/drawingml/2006/main" x="838200" y="1962150"/>
          <a:ext xmlns:a="http://schemas.openxmlformats.org/drawingml/2006/main" cx="6572250" cy="1943100"/>
        </p:xfrm>
        <a:graphic xmlns:a="http://schemas.openxmlformats.org/drawingml/2006/main">
          <a:graphicData uri="http://schemas.openxmlformats.org/drawingml/2006/table">
            <a:tbl>
              <a:tblPr firstRow="1" bandRow="0"/>
              <a:tblGrid>
                <a:gridCol w="2190750"/>
                <a:gridCol w="2190750"/>
                <a:gridCol w="2190750"/>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year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season</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A01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April</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A02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2025</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April</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A03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October</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E14E475-9566-4F8B-9624-E5C321F6DB47}"/>
              </a:ext>
            </a:extLst>
          </p:cNvPr>
          <p:cNvSpPr>
            <a:spLocks xmlns:a="http://schemas.openxmlformats.org/drawingml/2006/main" noGrp="1"/>
          </p:cNvSpPr>
          <p:nvPr/>
        </p:nvSpPr>
        <p:spPr>
          <a:xfrm xmlns:a="http://schemas.openxmlformats.org/drawingml/2006/main">
            <a:off x="7829550" y="1524000"/>
            <a:ext cx="657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62A8"/>
                </a:solidFill>
                <a:latin typeface="DejaVu Sans"/>
                <a:ea typeface="DejaVu Sans"/>
                <a:cs typeface="DejaVu Sans"/>
              </a:defRPr>
            </a:pPr>
            <a:r>
              <a:rPr sz="2025" b="1">
                <a:solidFill>
                  <a:srgbClr val="0062A8"/>
                </a:solidFill>
                <a:latin typeface="DejaVu Sans"/>
                <a:ea typeface="DejaVu Sans"/>
                <a:cs typeface="DejaVu Sans"/>
              </a:rPr>
              <a:t>conference_metadata</a:t>
            </a:r>
          </a:p>
        </p:txBody>
      </p:sp>
      <p:graphicFrame>
        <p:nvGraphicFramePr>
          <p:cNvPr id="16" name=""/>
          <p:cNvGraphicFramePr/>
          <p:nvPr/>
        </p:nvGraphicFramePr>
        <p:xfrm>
          <a:off xmlns:a="http://schemas.openxmlformats.org/drawingml/2006/main" x="7829550" y="1962150"/>
          <a:ext xmlns:a="http://schemas.openxmlformats.org/drawingml/2006/main" cx="6572250" cy="2428875"/>
        </p:xfrm>
        <a:graphic xmlns:a="http://schemas.openxmlformats.org/drawingml/2006/main">
          <a:graphicData uri="http://schemas.openxmlformats.org/drawingml/2006/table">
            <a:tbl>
              <a:tblPr firstRow="1" bandRow="0"/>
              <a:tblGrid>
                <a:gridCol w="2112509"/>
                <a:gridCol w="2112509"/>
                <a:gridCol w="2347232"/>
              </a:tblGrid>
              <a:tr h="485775">
                <a:tc>
                  <a:txBody>
                    <a:bodyPr>
                      <a:noAutofit/>
                    </a:bodyPr>
                    <a:lstStyle/>
                    <a:p>
                      <a:r>
                        <a:rPr sz="1950" b="1">
                          <a:solidFill>
                            <a:srgbClr val="FFFFFF"/>
                          </a:solidFill>
                          <a:latin typeface="DejaVu Sans"/>
                          <a:ea typeface="DejaVu Sans"/>
                          <a:cs typeface="DejaVu Sans"/>
                        </a:rPr>
                        <a:t>year</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season</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location</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April</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North Hall</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2025</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October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South Hall</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2026</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April</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East Hall</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2026</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October</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West Hall</a:t>
                      </a:r>
                    </a:p>
                  </a:txBody>
                  <a:tcPr marL="95250" marR="95250" marT="57150" marB="57150">
                    <a:solidFill>
                      <a:srgbClr val="F2F6F9"/>
                    </a:solidFill>
                  </a:tcPr>
                </a:tc>
              </a:tr>
            </a:tbl>
          </a:graphicData>
        </a:graphic>
      </p:graphicFrame>
      <p:sp>
        <p:nvSpPr>
          <p:cNvPr id="6" name="">
            <a:extLst xmlns:a="http://schemas.openxmlformats.org/drawingml/2006/main">
              <a:ext uri="{FF2B5EF4-FFF2-40B4-BE49-F238E27FC236}">
                <a16:creationId xmlns:a16="http://schemas.microsoft.com/office/drawing/2014/main" id="{F93BBD64-C76C-4598-A817-9F0866B50B73}"/>
              </a:ext>
            </a:extLst>
          </p:cNvPr>
          <p:cNvSpPr>
            <a:spLocks xmlns:a="http://schemas.openxmlformats.org/drawingml/2006/main" noGrp="1"/>
          </p:cNvSpPr>
          <p:nvPr/>
        </p:nvSpPr>
        <p:spPr>
          <a:xfrm xmlns:a="http://schemas.openxmlformats.org/drawingml/2006/main">
            <a:off x="838200" y="47148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We want one conference location attached to each talk.</a:t>
            </a:r>
          </a:p>
        </p:txBody>
      </p:sp>
      <p:sp>
        <p:nvSpPr>
          <p:cNvPr id="7" name="">
            <a:extLst xmlns:a="http://schemas.openxmlformats.org/drawingml/2006/main">
              <a:ext uri="{FF2B5EF4-FFF2-40B4-BE49-F238E27FC236}">
                <a16:creationId xmlns:a16="http://schemas.microsoft.com/office/drawing/2014/main" id="{E380EDEA-3558-451D-B4B4-CE3CFA833973}"/>
              </a:ext>
            </a:extLst>
          </p:cNvPr>
          <p:cNvSpPr>
            <a:spLocks xmlns:a="http://schemas.openxmlformats.org/drawingml/2006/main" noGrp="1"/>
          </p:cNvSpPr>
          <p:nvPr/>
        </p:nvSpPr>
        <p:spPr>
          <a:xfrm xmlns:a="http://schemas.openxmlformats.org/drawingml/2006/main">
            <a:off x="838200" y="54102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What happens if we join using year alone? Which columns identify a conference?</a:t>
            </a:r>
          </a:p>
        </p:txBody>
      </p:sp>
      <p:sp>
        <p:nvSpPr>
          <p:cNvPr id="8" name="">
            <a:extLst xmlns:a="http://schemas.openxmlformats.org/drawingml/2006/main">
              <a:ext uri="{FF2B5EF4-FFF2-40B4-BE49-F238E27FC236}">
                <a16:creationId xmlns:a16="http://schemas.microsoft.com/office/drawing/2014/main" id="{EBD1292C-FD30-4391-9B27-979C5BAC7F35}"/>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28 / 35</a:t>
            </a:r>
          </a:p>
        </p:txBody>
      </p:sp>
    </p:spTree>
    <p:extLst>
      <p:ext uri="{BB962C8B-B14F-4D97-AF65-F5344CB8AC3E}">
        <p14:creationId xmlns:p14="http://schemas.microsoft.com/office/powerpoint/2010/main" val="148838705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1FB9D8-0D9A-4CB8-BE2D-E57D83C60C90}"/>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Composite key: year and season</a:t>
            </a:r>
          </a:p>
        </p:txBody>
      </p:sp>
      <p:sp>
        <p:nvSpPr>
          <p:cNvPr id="2" name="">
            <a:extLst xmlns:a="http://schemas.openxmlformats.org/drawingml/2006/main">
              <a:ext uri="{FF2B5EF4-FFF2-40B4-BE49-F238E27FC236}">
                <a16:creationId xmlns:a16="http://schemas.microsoft.com/office/drawing/2014/main" id="{A3456097-BEBC-4674-94BD-B968ABC87DB6}"/>
              </a:ext>
            </a:extLst>
          </p:cNvPr>
          <p:cNvSpPr>
            <a:spLocks xmlns:a="http://schemas.openxmlformats.org/drawingml/2006/main" noGrp="1"/>
          </p:cNvSpPr>
          <p:nvPr/>
        </p:nvSpPr>
        <p:spPr>
          <a:xfrm xmlns:a="http://schemas.openxmlformats.org/drawingml/2006/main">
            <a:off x="838200" y="1524000"/>
            <a:ext cx="6572250" cy="3352800"/>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with_location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activity_talks, conference_metadata,</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on=["year", "season"],</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validate="many_to_one",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with_location[[</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"talk_id", "year",</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"season", "location"</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p:txBody>
      </p:sp>
      <p:graphicFrame>
        <p:nvGraphicFramePr>
          <p:cNvPr id="10" name=""/>
          <p:cNvGraphicFramePr/>
          <p:nvPr/>
        </p:nvGraphicFramePr>
        <p:xfrm>
          <a:off xmlns:a="http://schemas.openxmlformats.org/drawingml/2006/main" x="7829550" y="1524000"/>
          <a:ext xmlns:a="http://schemas.openxmlformats.org/drawingml/2006/main" cx="6572250" cy="5200650"/>
        </p:xfrm>
        <a:graphic xmlns:a="http://schemas.openxmlformats.org/drawingml/2006/main">
          <a:graphicData uri="http://schemas.openxmlformats.org/drawingml/2006/table">
            <a:tbl>
              <a:tblPr firstRow="1" bandRow="0"/>
              <a:tblGrid>
                <a:gridCol w="1598655"/>
                <a:gridCol w="1598655"/>
                <a:gridCol w="1598655"/>
                <a:gridCol w="1776284"/>
              </a:tblGrid>
              <a:tr h="400050">
                <a:tc>
                  <a:txBody>
                    <a:bodyPr>
                      <a:noAutofit/>
                    </a:bodyPr>
                    <a:lstStyle/>
                    <a:p>
                      <a:r>
                        <a:rPr sz="180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year</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season</a:t>
                      </a:r>
                    </a:p>
                  </a:txBody>
                  <a:tcPr marL="95250" marR="95250" marT="57150" marB="57150">
                    <a:solidFill>
                      <a:srgbClr val="002E5D"/>
                    </a:solidFill>
                  </a:tcPr>
                </a:tc>
                <a:tc>
                  <a:txBody>
                    <a:bodyPr>
                      <a:noAutofit/>
                    </a:bodyPr>
                    <a:lstStyle/>
                    <a:p>
                      <a:r>
                        <a:rPr sz="1800" b="1">
                          <a:solidFill>
                            <a:srgbClr val="FFFFFF"/>
                          </a:solidFill>
                          <a:latin typeface="DejaVu Sans"/>
                          <a:ea typeface="DejaVu Sans"/>
                          <a:cs typeface="DejaVu Sans"/>
                        </a:rPr>
                        <a:t>location</a:t>
                      </a:r>
                    </a:p>
                  </a:txBody>
                  <a:tcPr marL="95250" marR="95250" marT="57150" marB="57150">
                    <a:solidFill>
                      <a:srgbClr val="002E5D"/>
                    </a:solidFill>
                  </a:tcPr>
                </a:tc>
              </a:tr>
              <a:tr h="400050">
                <a:tc>
                  <a:txBody>
                    <a:bodyPr>
                      <a:noAutofit/>
                    </a:bodyPr>
                    <a:lstStyle/>
                    <a:p>
                      <a:r>
                        <a:rPr sz="1800" b="0">
                          <a:solidFill>
                            <a:srgbClr val="20394C"/>
                          </a:solidFill>
                          <a:latin typeface="DejaVu Sans"/>
                          <a:ea typeface="DejaVu Sans"/>
                          <a:cs typeface="DejaVu Sans"/>
                        </a:rPr>
                        <a:t>A01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North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A02</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North Hall</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A03</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South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A04</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South Hall</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North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A06</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2025</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South Hall</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A07</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East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A08</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East Hall</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A09</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West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A10</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April</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East Hall</a:t>
                      </a:r>
                    </a:p>
                  </a:txBody>
                  <a:tcPr marL="95250" marR="95250" marT="57150" marB="57150">
                    <a:solidFill>
                      <a:srgbClr val="F2F6F9"/>
                    </a:solidFill>
                  </a:tcPr>
                </a:tc>
              </a:tr>
              <a:tr h="400050">
                <a:tc>
                  <a:txBody>
                    <a:bodyPr>
                      <a:noAutofit/>
                    </a:bodyPr>
                    <a:lstStyle/>
                    <a:p>
                      <a:r>
                        <a:rPr sz="1800" b="0">
                          <a:solidFill>
                            <a:srgbClr val="20394C"/>
                          </a:solidFill>
                          <a:latin typeface="DejaVu Sans"/>
                          <a:ea typeface="DejaVu Sans"/>
                          <a:cs typeface="DejaVu Sans"/>
                        </a:rPr>
                        <a:t>A11</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FFFFF"/>
                    </a:solidFill>
                  </a:tcPr>
                </a:tc>
                <a:tc>
                  <a:txBody>
                    <a:bodyPr>
                      <a:noAutofit/>
                    </a:bodyPr>
                    <a:lstStyle/>
                    <a:p>
                      <a:r>
                        <a:rPr sz="1800" b="0">
                          <a:solidFill>
                            <a:srgbClr val="20394C"/>
                          </a:solidFill>
                          <a:latin typeface="DejaVu Sans"/>
                          <a:ea typeface="DejaVu Sans"/>
                          <a:cs typeface="DejaVu Sans"/>
                        </a:rPr>
                        <a:t>West Hall</a:t>
                      </a:r>
                    </a:p>
                  </a:txBody>
                  <a:tcPr marL="95250" marR="95250" marT="57150" marB="57150">
                    <a:solidFill>
                      <a:srgbClr val="FFFFFF"/>
                    </a:solidFill>
                  </a:tcPr>
                </a:tc>
              </a:tr>
              <a:tr h="400050">
                <a:tc>
                  <a:txBody>
                    <a:bodyPr>
                      <a:noAutofit/>
                    </a:bodyPr>
                    <a:lstStyle/>
                    <a:p>
                      <a:r>
                        <a:rPr sz="1800" b="0">
                          <a:solidFill>
                            <a:srgbClr val="20394C"/>
                          </a:solidFill>
                          <a:latin typeface="DejaVu Sans"/>
                          <a:ea typeface="DejaVu Sans"/>
                          <a:cs typeface="DejaVu Sans"/>
                        </a:rPr>
                        <a:t>A12</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2026</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October</a:t>
                      </a:r>
                    </a:p>
                  </a:txBody>
                  <a:tcPr marL="95250" marR="95250" marT="57150" marB="57150">
                    <a:solidFill>
                      <a:srgbClr val="F2F6F9"/>
                    </a:solidFill>
                  </a:tcPr>
                </a:tc>
                <a:tc>
                  <a:txBody>
                    <a:bodyPr>
                      <a:noAutofit/>
                    </a:bodyPr>
                    <a:lstStyle/>
                    <a:p>
                      <a:r>
                        <a:rPr sz="1800" b="0">
                          <a:solidFill>
                            <a:srgbClr val="20394C"/>
                          </a:solidFill>
                          <a:latin typeface="DejaVu Sans"/>
                          <a:ea typeface="DejaVu Sans"/>
                          <a:cs typeface="DejaVu Sans"/>
                        </a:rPr>
                        <a:t>West Hall</a:t>
                      </a:r>
                    </a:p>
                  </a:txBody>
                  <a:tcPr marL="95250" marR="95250" marT="57150" marB="57150">
                    <a:solidFill>
                      <a:srgbClr val="F2F6F9"/>
                    </a:solidFill>
                  </a:tcPr>
                </a:tc>
              </a:tr>
            </a:tbl>
          </a:graphicData>
        </a:graphic>
      </p:graphicFrame>
      <p:sp>
        <p:nvSpPr>
          <p:cNvPr id="4" name="">
            <a:extLst xmlns:a="http://schemas.openxmlformats.org/drawingml/2006/main">
              <a:ext uri="{FF2B5EF4-FFF2-40B4-BE49-F238E27FC236}">
                <a16:creationId xmlns:a16="http://schemas.microsoft.com/office/drawing/2014/main" id="{417908D1-2124-4FDA-A841-AB56CEFFA574}"/>
              </a:ext>
            </a:extLst>
          </p:cNvPr>
          <p:cNvSpPr>
            <a:spLocks xmlns:a="http://schemas.openxmlformats.org/drawingml/2006/main" noGrp="1"/>
          </p:cNvSpPr>
          <p:nvPr/>
        </p:nvSpPr>
        <p:spPr>
          <a:xfrm xmlns:a="http://schemas.openxmlformats.org/drawingml/2006/main">
            <a:off x="838200" y="70485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All 12 talks have one location. Joining on year alone would yield 24 rows.</a:t>
            </a:r>
          </a:p>
        </p:txBody>
      </p:sp>
      <p:sp>
        <p:nvSpPr>
          <p:cNvPr id="5" name="">
            <a:extLst xmlns:a="http://schemas.openxmlformats.org/drawingml/2006/main">
              <a:ext uri="{FF2B5EF4-FFF2-40B4-BE49-F238E27FC236}">
                <a16:creationId xmlns:a16="http://schemas.microsoft.com/office/drawing/2014/main" id="{F2094802-B4B8-4BCC-89D8-1D6F0BE61F07}"/>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29 / 35</a:t>
            </a:r>
          </a:p>
        </p:txBody>
      </p:sp>
    </p:spTree>
    <p:extLst>
      <p:ext uri="{BB962C8B-B14F-4D97-AF65-F5344CB8AC3E}">
        <p14:creationId xmlns:p14="http://schemas.microsoft.com/office/powerpoint/2010/main" val="193110609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7B562B-59E0-44BA-A848-14055E12A9BD}"/>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A checking routine for joins</a:t>
            </a:r>
          </a:p>
        </p:txBody>
      </p:sp>
      <p:sp>
        <p:nvSpPr>
          <p:cNvPr id="2" name="">
            <a:extLst xmlns:a="http://schemas.openxmlformats.org/drawingml/2006/main">
              <a:ext uri="{FF2B5EF4-FFF2-40B4-BE49-F238E27FC236}">
                <a16:creationId xmlns:a16="http://schemas.microsoft.com/office/drawing/2014/main" id="{B68A4B7B-D644-4E2C-BECD-64F34142BE28}"/>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Before joining: describe the intended row unit and expected relationship.</a:t>
            </a:r>
          </a:p>
        </p:txBody>
      </p:sp>
      <p:sp>
        <p:nvSpPr>
          <p:cNvPr id="3" name="">
            <a:extLst xmlns:a="http://schemas.openxmlformats.org/drawingml/2006/main">
              <a:ext uri="{FF2B5EF4-FFF2-40B4-BE49-F238E27FC236}">
                <a16:creationId xmlns:a16="http://schemas.microsoft.com/office/drawing/2014/main" id="{B75B9E1E-C535-4A3F-95AF-AA55A43D4B4D}"/>
              </a:ext>
            </a:extLst>
          </p:cNvPr>
          <p:cNvSpPr>
            <a:spLocks xmlns:a="http://schemas.openxmlformats.org/drawingml/2006/main" noGrp="1"/>
          </p:cNvSpPr>
          <p:nvPr/>
        </p:nvSpPr>
        <p:spPr>
          <a:xfrm xmlns:a="http://schemas.openxmlformats.org/drawingml/2006/main">
            <a:off x="838200" y="2219325"/>
            <a:ext cx="6572250" cy="11525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talks["talk_id"].is_unique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speakers["speaker_id"].is_unique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speakers["speaker_id"].isna().sum()</a:t>
            </a:r>
          </a:p>
        </p:txBody>
      </p:sp>
      <p:graphicFrame>
        <p:nvGraphicFramePr>
          <p:cNvPr id="13" name=""/>
          <p:cNvGraphicFramePr/>
          <p:nvPr/>
        </p:nvGraphicFramePr>
        <p:xfrm>
          <a:off xmlns:a="http://schemas.openxmlformats.org/drawingml/2006/main" x="7829550" y="2219325"/>
          <a:ext xmlns:a="http://schemas.openxmlformats.org/drawingml/2006/main" cx="6572250" cy="1943100"/>
        </p:xfrm>
        <a:graphic xmlns:a="http://schemas.openxmlformats.org/drawingml/2006/main">
          <a:graphicData uri="http://schemas.openxmlformats.org/drawingml/2006/table">
            <a:tbl>
              <a:tblPr firstRow="1" bandRow="0"/>
              <a:tblGrid>
                <a:gridCol w="4532586"/>
                <a:gridCol w="2039664"/>
              </a:tblGrid>
              <a:tr h="485775">
                <a:tc>
                  <a:txBody>
                    <a:bodyPr>
                      <a:noAutofit/>
                    </a:bodyPr>
                    <a:lstStyle/>
                    <a:p>
                      <a:r>
                        <a:rPr sz="1950" b="1">
                          <a:solidFill>
                            <a:srgbClr val="FFFFFF"/>
                          </a:solidFill>
                          <a:latin typeface="DejaVu Sans"/>
                          <a:ea typeface="DejaVu Sans"/>
                          <a:cs typeface="DejaVu Sans"/>
                        </a:rPr>
                        <a:t>Check</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Output</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Unique talk IDs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True</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Unique speaker IDs</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True</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Missing speaker keys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0</a:t>
                      </a:r>
                    </a:p>
                  </a:txBody>
                  <a:tcPr marL="95250" marR="95250" marT="57150" marB="5715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7CAB687-5C26-47F2-B089-4222BAFD007B}"/>
              </a:ext>
            </a:extLst>
          </p:cNvPr>
          <p:cNvSpPr>
            <a:spLocks xmlns:a="http://schemas.openxmlformats.org/drawingml/2006/main" noGrp="1"/>
          </p:cNvSpPr>
          <p:nvPr/>
        </p:nvSpPr>
        <p:spPr>
          <a:xfrm xmlns:a="http://schemas.openxmlformats.org/drawingml/2006/main">
            <a:off x="838200" y="44862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During joining: specify keys, retention, and validate.</a:t>
            </a:r>
          </a:p>
        </p:txBody>
      </p:sp>
      <p:sp>
        <p:nvSpPr>
          <p:cNvPr id="6" name="">
            <a:extLst xmlns:a="http://schemas.openxmlformats.org/drawingml/2006/main">
              <a:ext uri="{FF2B5EF4-FFF2-40B4-BE49-F238E27FC236}">
                <a16:creationId xmlns:a16="http://schemas.microsoft.com/office/drawing/2014/main" id="{6F455EA2-8480-4CBE-A25A-9F07487CE621}"/>
              </a:ext>
            </a:extLst>
          </p:cNvPr>
          <p:cNvSpPr>
            <a:spLocks xmlns:a="http://schemas.openxmlformats.org/drawingml/2006/main" noGrp="1"/>
          </p:cNvSpPr>
          <p:nvPr/>
        </p:nvSpPr>
        <p:spPr>
          <a:xfrm xmlns:a="http://schemas.openxmlformats.org/drawingml/2006/main">
            <a:off x="838200" y="51816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After joining: check row counts, row identity, and unmatched records.</a:t>
            </a:r>
          </a:p>
        </p:txBody>
      </p:sp>
      <p:sp>
        <p:nvSpPr>
          <p:cNvPr id="7" name="">
            <a:extLst xmlns:a="http://schemas.openxmlformats.org/drawingml/2006/main">
              <a:ext uri="{FF2B5EF4-FFF2-40B4-BE49-F238E27FC236}">
                <a16:creationId xmlns:a16="http://schemas.microsoft.com/office/drawing/2014/main" id="{9DBC1ED7-D4F0-4714-A4BA-69D40E29766E}"/>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30 / 35</a:t>
            </a:r>
          </a:p>
        </p:txBody>
      </p:sp>
    </p:spTree>
    <p:extLst>
      <p:ext uri="{BB962C8B-B14F-4D97-AF65-F5344CB8AC3E}">
        <p14:creationId xmlns:p14="http://schemas.microsoft.com/office/powerpoint/2010/main" val="16435206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B744D0-B930-400C-BD11-F409B8631AAC}"/>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Exit check</a:t>
            </a:r>
          </a:p>
        </p:txBody>
      </p:sp>
      <p:sp>
        <p:nvSpPr>
          <p:cNvPr id="2" name="">
            <a:extLst xmlns:a="http://schemas.openxmlformats.org/drawingml/2006/main">
              <a:ext uri="{FF2B5EF4-FFF2-40B4-BE49-F238E27FC236}">
                <a16:creationId xmlns:a16="http://schemas.microsoft.com/office/drawing/2014/main" id="{5C7FC8E5-EF7A-4392-A368-EF8CB1BFFD07}"/>
              </a:ext>
            </a:extLst>
          </p:cNvPr>
          <p:cNvSpPr>
            <a:spLocks xmlns:a="http://schemas.openxmlformats.org/drawingml/2006/main" noGrp="1"/>
          </p:cNvSpPr>
          <p:nvPr/>
        </p:nvSpPr>
        <p:spPr>
          <a:xfrm xmlns:a="http://schemas.openxmlformats.org/drawingml/2006/main">
            <a:off x="838200" y="15240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You have one row per enrollment with course_id.</a:t>
            </a:r>
          </a:p>
        </p:txBody>
      </p:sp>
      <p:sp>
        <p:nvSpPr>
          <p:cNvPr id="3" name="">
            <a:extLst xmlns:a="http://schemas.openxmlformats.org/drawingml/2006/main">
              <a:ext uri="{FF2B5EF4-FFF2-40B4-BE49-F238E27FC236}">
                <a16:creationId xmlns:a16="http://schemas.microsoft.com/office/drawing/2014/main" id="{E0F8B95A-D3DD-440B-A5EC-E3BBA10019FC}"/>
              </a:ext>
            </a:extLst>
          </p:cNvPr>
          <p:cNvSpPr>
            <a:spLocks xmlns:a="http://schemas.openxmlformats.org/drawingml/2006/main" noGrp="1"/>
          </p:cNvSpPr>
          <p:nvPr/>
        </p:nvSpPr>
        <p:spPr>
          <a:xfrm xmlns:a="http://schemas.openxmlformats.org/drawingml/2006/main">
            <a:off x="838200" y="22193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course catalog should have one row per course_id.</a:t>
            </a:r>
          </a:p>
        </p:txBody>
      </p:sp>
      <p:sp>
        <p:nvSpPr>
          <p:cNvPr id="4" name="">
            <a:extLst xmlns:a="http://schemas.openxmlformats.org/drawingml/2006/main">
              <a:ext uri="{FF2B5EF4-FFF2-40B4-BE49-F238E27FC236}">
                <a16:creationId xmlns:a16="http://schemas.microsoft.com/office/drawing/2014/main" id="{9F0F46E4-F9C9-41A3-88AB-CE11FBBD4944}"/>
              </a:ext>
            </a:extLst>
          </p:cNvPr>
          <p:cNvSpPr>
            <a:spLocks xmlns:a="http://schemas.openxmlformats.org/drawingml/2006/main" noGrp="1"/>
          </p:cNvSpPr>
          <p:nvPr/>
        </p:nvSpPr>
        <p:spPr>
          <a:xfrm xmlns:a="http://schemas.openxmlformats.org/drawingml/2006/main">
            <a:off x="838200" y="2914650"/>
            <a:ext cx="13563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1. How do you retain every enrollment and attach the course title?</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2. Which validation rule fits?</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3. What could make the joined table longer?</a:t>
            </a:r>
          </a:p>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4. How would you find enrollments without catalog matches?</a:t>
            </a:r>
          </a:p>
        </p:txBody>
      </p:sp>
      <p:sp>
        <p:nvSpPr>
          <p:cNvPr id="5" name="">
            <a:extLst xmlns:a="http://schemas.openxmlformats.org/drawingml/2006/main">
              <a:ext uri="{FF2B5EF4-FFF2-40B4-BE49-F238E27FC236}">
                <a16:creationId xmlns:a16="http://schemas.microsoft.com/office/drawing/2014/main" id="{AD7FC2A4-6588-4CB8-9648-5C22D34F47FB}"/>
              </a:ext>
            </a:extLst>
          </p:cNvPr>
          <p:cNvSpPr>
            <a:spLocks xmlns:a="http://schemas.openxmlformats.org/drawingml/2006/main" noGrp="1"/>
          </p:cNvSpPr>
          <p:nvPr/>
        </p:nvSpPr>
        <p:spPr>
          <a:xfrm xmlns:a="http://schemas.openxmlformats.org/drawingml/2006/main">
            <a:off x="838200" y="48387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Next time: What do missing values tell us about how the data were collected?</a:t>
            </a:r>
          </a:p>
        </p:txBody>
      </p:sp>
      <p:sp>
        <p:nvSpPr>
          <p:cNvPr id="6" name="">
            <a:extLst xmlns:a="http://schemas.openxmlformats.org/drawingml/2006/main">
              <a:ext uri="{FF2B5EF4-FFF2-40B4-BE49-F238E27FC236}">
                <a16:creationId xmlns:a16="http://schemas.microsoft.com/office/drawing/2014/main" id="{3B1D2874-399E-4F7F-9E43-DE5612206BA5}"/>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31 / 35</a:t>
            </a:r>
          </a:p>
        </p:txBody>
      </p:sp>
    </p:spTree>
    <p:extLst>
      <p:ext uri="{BB962C8B-B14F-4D97-AF65-F5344CB8AC3E}">
        <p14:creationId xmlns:p14="http://schemas.microsoft.com/office/powerpoint/2010/main" val="40335694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C3322E-B327-4E86-B7C3-2D27855E2B07}"/>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Exit check: one working answer</a:t>
            </a:r>
          </a:p>
        </p:txBody>
      </p:sp>
      <p:sp>
        <p:nvSpPr>
          <p:cNvPr id="2" name="">
            <a:extLst xmlns:a="http://schemas.openxmlformats.org/drawingml/2006/main">
              <a:ext uri="{FF2B5EF4-FFF2-40B4-BE49-F238E27FC236}">
                <a16:creationId xmlns:a16="http://schemas.microsoft.com/office/drawing/2014/main" id="{4F276D6B-926D-438F-8EBA-900C276E0385}"/>
              </a:ext>
            </a:extLst>
          </p:cNvPr>
          <p:cNvSpPr>
            <a:spLocks xmlns:a="http://schemas.openxmlformats.org/drawingml/2006/main" noGrp="1"/>
          </p:cNvSpPr>
          <p:nvPr/>
        </p:nvSpPr>
        <p:spPr>
          <a:xfrm xmlns:a="http://schemas.openxmlformats.org/drawingml/2006/main">
            <a:off x="838200" y="1524000"/>
            <a:ext cx="13563600" cy="24098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enriched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enrollments, catalog, on="course_id",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validate="many_to_one", indicator=True,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unmatched = enriched.loc[</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enriched["_merge"].eq("left_only")</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p:txBody>
      </p:sp>
      <p:sp>
        <p:nvSpPr>
          <p:cNvPr id="3" name="">
            <a:extLst xmlns:a="http://schemas.openxmlformats.org/drawingml/2006/main">
              <a:ext uri="{FF2B5EF4-FFF2-40B4-BE49-F238E27FC236}">
                <a16:creationId xmlns:a16="http://schemas.microsoft.com/office/drawing/2014/main" id="{0C6B62D6-C700-4250-BFD2-55A067DF4A4F}"/>
              </a:ext>
            </a:extLst>
          </p:cNvPr>
          <p:cNvSpPr>
            <a:spLocks xmlns:a="http://schemas.openxmlformats.org/drawingml/2006/main" noGrp="1"/>
          </p:cNvSpPr>
          <p:nvPr/>
        </p:nvSpPr>
        <p:spPr>
          <a:xfrm xmlns:a="http://schemas.openxmlformats.org/drawingml/2006/main">
            <a:off x="838200" y="41624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Duplicate matching course IDs in the catalog can repeat an enrollment.</a:t>
            </a:r>
          </a:p>
        </p:txBody>
      </p:sp>
      <p:sp>
        <p:nvSpPr>
          <p:cNvPr id="4" name="">
            <a:extLst xmlns:a="http://schemas.openxmlformats.org/drawingml/2006/main">
              <a:ext uri="{FF2B5EF4-FFF2-40B4-BE49-F238E27FC236}">
                <a16:creationId xmlns:a16="http://schemas.microsoft.com/office/drawing/2014/main" id="{EC804E42-38F7-41CF-9DC8-6E0B6BAC95AF}"/>
              </a:ext>
            </a:extLst>
          </p:cNvPr>
          <p:cNvSpPr>
            <a:spLocks xmlns:a="http://schemas.openxmlformats.org/drawingml/2006/main" noGrp="1"/>
          </p:cNvSpPr>
          <p:nvPr/>
        </p:nvSpPr>
        <p:spPr>
          <a:xfrm xmlns:a="http://schemas.openxmlformats.org/drawingml/2006/main">
            <a:off x="838200" y="48577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The intended result keeps one row per enrollment.</a:t>
            </a:r>
          </a:p>
        </p:txBody>
      </p:sp>
      <p:sp>
        <p:nvSpPr>
          <p:cNvPr id="5" name="">
            <a:extLst xmlns:a="http://schemas.openxmlformats.org/drawingml/2006/main">
              <a:ext uri="{FF2B5EF4-FFF2-40B4-BE49-F238E27FC236}">
                <a16:creationId xmlns:a16="http://schemas.microsoft.com/office/drawing/2014/main" id="{03A2B705-A32E-4975-8819-BCD3040F5991}"/>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32 / 35</a:t>
            </a:r>
          </a:p>
        </p:txBody>
      </p:sp>
    </p:spTree>
    <p:extLst>
      <p:ext uri="{BB962C8B-B14F-4D97-AF65-F5344CB8AC3E}">
        <p14:creationId xmlns:p14="http://schemas.microsoft.com/office/powerpoint/2010/main" val="53420462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AF6E78-1678-45CC-A4CF-C1CD6B11255D}"/>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Reference: names and overlapping columns</a:t>
            </a:r>
          </a:p>
        </p:txBody>
      </p:sp>
      <p:sp>
        <p:nvSpPr>
          <p:cNvPr id="2" name="">
            <a:extLst xmlns:a="http://schemas.openxmlformats.org/drawingml/2006/main">
              <a:ext uri="{FF2B5EF4-FFF2-40B4-BE49-F238E27FC236}">
                <a16:creationId xmlns:a16="http://schemas.microsoft.com/office/drawing/2014/main" id="{8E7F173C-4E25-4433-9460-F510487D46F2}"/>
              </a:ext>
            </a:extLst>
          </p:cNvPr>
          <p:cNvSpPr>
            <a:spLocks xmlns:a="http://schemas.openxmlformats.org/drawingml/2006/main" noGrp="1"/>
          </p:cNvSpPr>
          <p:nvPr/>
        </p:nvSpPr>
        <p:spPr>
          <a:xfrm xmlns:a="http://schemas.openxmlformats.org/drawingml/2006/main">
            <a:off x="838200" y="1524000"/>
            <a:ext cx="6572250" cy="3981450"/>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directory = speakers.rename(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columns={"speaker_id": "person_id"}</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renamed = pd.merge(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talks, directory,</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left_on="speaker_id",</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right_on="person_id",</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how="left",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    validate="many_to_one",</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renamed[["talk_id", "person_id", "speaker"]]</a:t>
            </a:r>
          </a:p>
        </p:txBody>
      </p:sp>
      <p:graphicFrame>
        <p:nvGraphicFramePr>
          <p:cNvPr id="10" name=""/>
          <p:cNvGraphicFramePr/>
          <p:nvPr/>
        </p:nvGraphicFramePr>
        <p:xfrm>
          <a:off xmlns:a="http://schemas.openxmlformats.org/drawingml/2006/main" x="7829550" y="1524000"/>
          <a:ext xmlns:a="http://schemas.openxmlformats.org/drawingml/2006/main" cx="6572250" cy="2914650"/>
        </p:xfrm>
        <a:graphic xmlns:a="http://schemas.openxmlformats.org/drawingml/2006/main">
          <a:graphicData uri="http://schemas.openxmlformats.org/drawingml/2006/table">
            <a:tbl>
              <a:tblPr firstRow="1" bandRow="0"/>
              <a:tblGrid>
                <a:gridCol w="2190750"/>
                <a:gridCol w="2190750"/>
                <a:gridCol w="2190750"/>
              </a:tblGrid>
              <a:tr h="485775">
                <a:tc>
                  <a:txBody>
                    <a:bodyPr>
                      <a:noAutofit/>
                    </a:bodyPr>
                    <a:lstStyle/>
                    <a:p>
                      <a:r>
                        <a:rPr sz="1950" b="1">
                          <a:solidFill>
                            <a:srgbClr val="FFFFFF"/>
                          </a:solidFill>
                          <a:latin typeface="DejaVu Sans"/>
                          <a:ea typeface="DejaVu Sans"/>
                          <a:cs typeface="DejaVu Sans"/>
                        </a:rPr>
                        <a:t>talk_id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person_id</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speaker</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T3</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S1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Avery</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T4</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S2</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Blair</a:t>
                      </a:r>
                    </a:p>
                  </a:txBody>
                  <a:tcPr marL="95250" marR="95250" marT="57150" marB="57150">
                    <a:solidFill>
                      <a:srgbClr val="F2F6F9"/>
                    </a:solidFill>
                  </a:tcPr>
                </a:tc>
              </a:tr>
              <a:tr h="485775">
                <a:tc>
                  <a:txBody>
                    <a:bodyPr>
                      <a:noAutofit/>
                    </a:bodyPr>
                    <a:lstStyle/>
                    <a:p>
                      <a:r>
                        <a:rPr sz="1950" b="0">
                          <a:solidFill>
                            <a:srgbClr val="20394C"/>
                          </a:solidFill>
                          <a:latin typeface="DejaVu Sans"/>
                          <a:ea typeface="DejaVu Sans"/>
                          <a:cs typeface="DejaVu Sans"/>
                        </a:rPr>
                        <a:t>T5</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81117F-C6C6-4578-A251-CAE3E4C5BABB}"/>
              </a:ext>
            </a:extLst>
          </p:cNvPr>
          <p:cNvSpPr>
            <a:spLocks xmlns:a="http://schemas.openxmlformats.org/drawingml/2006/main" noGrp="1"/>
          </p:cNvSpPr>
          <p:nvPr/>
        </p:nvSpPr>
        <p:spPr>
          <a:xfrm xmlns:a="http://schemas.openxmlformats.org/drawingml/2006/main">
            <a:off x="838200" y="5829300"/>
            <a:ext cx="135636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left_on and right_on name each key. suffixes labels overlapping non-key columns.</a:t>
            </a:r>
          </a:p>
        </p:txBody>
      </p:sp>
      <p:sp>
        <p:nvSpPr>
          <p:cNvPr id="5" name="">
            <a:extLst xmlns:a="http://schemas.openxmlformats.org/drawingml/2006/main">
              <a:ext uri="{FF2B5EF4-FFF2-40B4-BE49-F238E27FC236}">
                <a16:creationId xmlns:a16="http://schemas.microsoft.com/office/drawing/2014/main" id="{9DE14665-242F-44DD-A944-0AE81F7B829B}"/>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33 / 35</a:t>
            </a:r>
          </a:p>
        </p:txBody>
      </p:sp>
    </p:spTree>
    <p:extLst>
      <p:ext uri="{BB962C8B-B14F-4D97-AF65-F5344CB8AC3E}">
        <p14:creationId xmlns:p14="http://schemas.microsoft.com/office/powerpoint/2010/main" val="95327705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E2A3BA-D138-4D09-98BC-0E28625346F0}"/>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Reference: missing keys</a:t>
            </a:r>
          </a:p>
        </p:txBody>
      </p:sp>
      <p:sp>
        <p:nvSpPr>
          <p:cNvPr id="2" name="">
            <a:extLst xmlns:a="http://schemas.openxmlformats.org/drawingml/2006/main">
              <a:ext uri="{FF2B5EF4-FFF2-40B4-BE49-F238E27FC236}">
                <a16:creationId xmlns:a16="http://schemas.microsoft.com/office/drawing/2014/main" id="{30B63FBA-B4C4-46CD-B95C-6B32CFCB34CF}"/>
              </a:ext>
            </a:extLst>
          </p:cNvPr>
          <p:cNvSpPr>
            <a:spLocks xmlns:a="http://schemas.openxmlformats.org/drawingml/2006/main" noGrp="1"/>
          </p:cNvSpPr>
          <p:nvPr/>
        </p:nvSpPr>
        <p:spPr>
          <a:xfrm xmlns:a="http://schemas.openxmlformats.org/drawingml/2006/main">
            <a:off x="838200" y="1524000"/>
            <a:ext cx="13563600" cy="1152525"/>
          </a:xfrm>
          <a:prstGeom xmlns:a="http://schemas.openxmlformats.org/drawingml/2006/main" prst="rect">
            <a:avLst/>
          </a:prstGeom>
          <a:solidFill xmlns:a="http://schemas.openxmlformats.org/drawingml/2006/main">
            <a:srgbClr val="EEF3F7"/>
          </a:solidFill>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left_keys = pd.DataFrame({"key": [None], "x": [1]})</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right_keys = pd.DataFrame({"key": [None], "y": [2]})</a:t>
            </a:r>
          </a:p>
          <a:p xmlns:a="http://schemas.openxmlformats.org/drawingml/2006/main">
            <a:pPr>
              <a:buNone/>
              <a:defRPr sz="1950">
                <a:solidFill>
                  <a:srgbClr val="7A263A"/>
                </a:solidFill>
                <a:latin typeface="DejaVu Sans Mono"/>
                <a:ea typeface="DejaVu Sans Mono"/>
                <a:cs typeface="DejaVu Sans Mono"/>
              </a:defRPr>
            </a:pPr>
            <a:r>
              <a:rPr sz="1950">
                <a:solidFill>
                  <a:srgbClr val="7A263A"/>
                </a:solidFill>
                <a:latin typeface="DejaVu Sans Mono"/>
                <a:ea typeface="DejaVu Sans Mono"/>
                <a:cs typeface="DejaVu Sans Mono"/>
              </a:rPr>
              <a:t>pd.merge(left_keys, right_keys, on="key", how="inner")</a:t>
            </a:r>
          </a:p>
        </p:txBody>
      </p:sp>
      <p:graphicFrame>
        <p:nvGraphicFramePr>
          <p:cNvPr id="11" name=""/>
          <p:cNvGraphicFramePr/>
          <p:nvPr/>
        </p:nvGraphicFramePr>
        <p:xfrm>
          <a:off xmlns:a="http://schemas.openxmlformats.org/drawingml/2006/main" x="838200" y="2905125"/>
          <a:ext xmlns:a="http://schemas.openxmlformats.org/drawingml/2006/main" cx="13563600" cy="971550"/>
        </p:xfrm>
        <a:graphic xmlns:a="http://schemas.openxmlformats.org/drawingml/2006/main">
          <a:graphicData uri="http://schemas.openxmlformats.org/drawingml/2006/table">
            <a:tbl>
              <a:tblPr firstRow="1" bandRow="0"/>
              <a:tblGrid>
                <a:gridCol w="4521200"/>
                <a:gridCol w="4521200"/>
                <a:gridCol w="4521200"/>
              </a:tblGrid>
              <a:tr h="485775">
                <a:tc>
                  <a:txBody>
                    <a:bodyPr>
                      <a:noAutofit/>
                    </a:bodyPr>
                    <a:lstStyle/>
                    <a:p>
                      <a:r>
                        <a:rPr sz="1950" b="1">
                          <a:solidFill>
                            <a:srgbClr val="FFFFFF"/>
                          </a:solidFill>
                          <a:latin typeface="DejaVu Sans"/>
                          <a:ea typeface="DejaVu Sans"/>
                          <a:cs typeface="DejaVu Sans"/>
                        </a:rPr>
                        <a:t>key</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x</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y</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NA</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1</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2</a:t>
                      </a:r>
                    </a:p>
                  </a:txBody>
                  <a:tcPr marL="95250" marR="95250" marT="57150" marB="571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A33B803-F951-47F3-81B4-F48FC9D8104D}"/>
              </a:ext>
            </a:extLst>
          </p:cNvPr>
          <p:cNvSpPr>
            <a:spLocks xmlns:a="http://schemas.openxmlformats.org/drawingml/2006/main" noGrp="1"/>
          </p:cNvSpPr>
          <p:nvPr/>
        </p:nvSpPr>
        <p:spPr>
          <a:xfrm xmlns:a="http://schemas.openxmlformats.org/drawingml/2006/main">
            <a:off x="838200" y="410527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pandas matches missing keys on both sides.</a:t>
            </a:r>
          </a:p>
        </p:txBody>
      </p:sp>
      <p:sp>
        <p:nvSpPr>
          <p:cNvPr id="5" name="">
            <a:extLst xmlns:a="http://schemas.openxmlformats.org/drawingml/2006/main">
              <a:ext uri="{FF2B5EF4-FFF2-40B4-BE49-F238E27FC236}">
                <a16:creationId xmlns:a16="http://schemas.microsoft.com/office/drawing/2014/main" id="{E68A63CF-8D2A-4EC7-9B91-20EFAAA705C9}"/>
              </a:ext>
            </a:extLst>
          </p:cNvPr>
          <p:cNvSpPr>
            <a:spLocks xmlns:a="http://schemas.openxmlformats.org/drawingml/2006/main" noGrp="1"/>
          </p:cNvSpPr>
          <p:nvPr/>
        </p:nvSpPr>
        <p:spPr>
          <a:xfrm xmlns:a="http://schemas.openxmlformats.org/drawingml/2006/main">
            <a:off x="838200" y="480060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Check missing keys before relying on the match indicator.</a:t>
            </a:r>
          </a:p>
        </p:txBody>
      </p:sp>
      <p:sp>
        <p:nvSpPr>
          <p:cNvPr id="6" name="">
            <a:extLst xmlns:a="http://schemas.openxmlformats.org/drawingml/2006/main">
              <a:ext uri="{FF2B5EF4-FFF2-40B4-BE49-F238E27FC236}">
                <a16:creationId xmlns:a16="http://schemas.microsoft.com/office/drawing/2014/main" id="{53C9E798-64E6-4B41-8E42-3B895439B3F9}"/>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34 / 35</a:t>
            </a:r>
          </a:p>
        </p:txBody>
      </p:sp>
    </p:spTree>
    <p:extLst>
      <p:ext uri="{BB962C8B-B14F-4D97-AF65-F5344CB8AC3E}">
        <p14:creationId xmlns:p14="http://schemas.microsoft.com/office/powerpoint/2010/main" val="7432864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346513-BB8C-49C5-942A-DA2A03A0BB53}"/>
              </a:ext>
            </a:extLst>
          </p:cNvPr>
          <p:cNvSpPr>
            <a:spLocks xmlns:a="http://schemas.openxmlformats.org/drawingml/2006/main" noGrp="1"/>
          </p:cNvSpPr>
          <p:nvPr/>
        </p:nvSpPr>
        <p:spPr>
          <a:xfrm xmlns:a="http://schemas.openxmlformats.org/drawingml/2006/main">
            <a:off x="838200" y="400050"/>
            <a:ext cx="13563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2E5D"/>
                </a:solidFill>
                <a:latin typeface="DejaVu Sans"/>
                <a:ea typeface="DejaVu Sans"/>
                <a:cs typeface="DejaVu Sans"/>
              </a:defRPr>
            </a:pPr>
            <a:r>
              <a:rPr sz="3600" b="1">
                <a:solidFill>
                  <a:srgbClr val="002E5D"/>
                </a:solidFill>
                <a:latin typeface="DejaVu Sans"/>
                <a:ea typeface="DejaVu Sans"/>
                <a:cs typeface="DejaVu Sans"/>
              </a:rPr>
              <a:t>Reference: joining and stacking</a:t>
            </a:r>
          </a:p>
        </p:txBody>
      </p:sp>
      <p:graphicFrame>
        <p:nvGraphicFramePr>
          <p:cNvPr id="9" name=""/>
          <p:cNvGraphicFramePr/>
          <p:nvPr/>
        </p:nvGraphicFramePr>
        <p:xfrm>
          <a:off xmlns:a="http://schemas.openxmlformats.org/drawingml/2006/main" x="838200" y="1524000"/>
          <a:ext xmlns:a="http://schemas.openxmlformats.org/drawingml/2006/main" cx="13563600" cy="1457325"/>
        </p:xfrm>
        <a:graphic xmlns:a="http://schemas.openxmlformats.org/drawingml/2006/main">
          <a:graphicData uri="http://schemas.openxmlformats.org/drawingml/2006/table">
            <a:tbl>
              <a:tblPr firstRow="1" bandRow="0"/>
              <a:tblGrid>
                <a:gridCol w="5860815"/>
                <a:gridCol w="7702785"/>
              </a:tblGrid>
              <a:tr h="485775">
                <a:tc>
                  <a:txBody>
                    <a:bodyPr>
                      <a:noAutofit/>
                    </a:bodyPr>
                    <a:lstStyle/>
                    <a:p>
                      <a:r>
                        <a:rPr sz="1950" b="1">
                          <a:solidFill>
                            <a:srgbClr val="FFFFFF"/>
                          </a:solidFill>
                          <a:latin typeface="DejaVu Sans"/>
                          <a:ea typeface="DejaVu Sans"/>
                          <a:cs typeface="DejaVu Sans"/>
                        </a:rPr>
                        <a:t>Goal</a:t>
                      </a:r>
                    </a:p>
                  </a:txBody>
                  <a:tcPr marL="95250" marR="95250" marT="57150" marB="57150">
                    <a:solidFill>
                      <a:srgbClr val="002E5D"/>
                    </a:solidFill>
                  </a:tcPr>
                </a:tc>
                <a:tc>
                  <a:txBody>
                    <a:bodyPr>
                      <a:noAutofit/>
                    </a:bodyPr>
                    <a:lstStyle/>
                    <a:p>
                      <a:r>
                        <a:rPr sz="1950" b="1">
                          <a:solidFill>
                            <a:srgbClr val="FFFFFF"/>
                          </a:solidFill>
                          <a:latin typeface="DejaVu Sans"/>
                          <a:ea typeface="DejaVu Sans"/>
                          <a:cs typeface="DejaVu Sans"/>
                        </a:rPr>
                        <a:t>Operation</a:t>
                      </a:r>
                    </a:p>
                  </a:txBody>
                  <a:tcPr marL="95250" marR="95250" marT="57150" marB="57150">
                    <a:solidFill>
                      <a:srgbClr val="002E5D"/>
                    </a:solidFill>
                  </a:tcPr>
                </a:tc>
              </a:tr>
              <a:tr h="485775">
                <a:tc>
                  <a:txBody>
                    <a:bodyPr>
                      <a:noAutofit/>
                    </a:bodyPr>
                    <a:lstStyle/>
                    <a:p>
                      <a:r>
                        <a:rPr sz="1950" b="0">
                          <a:solidFill>
                            <a:srgbClr val="20394C"/>
                          </a:solidFill>
                          <a:latin typeface="DejaVu Sans"/>
                          <a:ea typeface="DejaVu Sans"/>
                          <a:cs typeface="DejaVu Sans"/>
                        </a:rPr>
                        <a:t>Attach related fields using keys</a:t>
                      </a:r>
                    </a:p>
                  </a:txBody>
                  <a:tcPr marL="95250" marR="95250" marT="57150" marB="57150">
                    <a:solidFill>
                      <a:srgbClr val="FFFFFF"/>
                    </a:solidFill>
                  </a:tcPr>
                </a:tc>
                <a:tc>
                  <a:txBody>
                    <a:bodyPr>
                      <a:noAutofit/>
                    </a:bodyPr>
                    <a:lstStyle/>
                    <a:p>
                      <a:r>
                        <a:rPr sz="1950" b="0">
                          <a:solidFill>
                            <a:srgbClr val="20394C"/>
                          </a:solidFill>
                          <a:latin typeface="DejaVu Sans"/>
                          <a:ea typeface="DejaVu Sans"/>
                          <a:cs typeface="DejaVu Sans"/>
                        </a:rPr>
                        <a:t>pd.merge(...)</a:t>
                      </a:r>
                    </a:p>
                  </a:txBody>
                  <a:tcPr marL="95250" marR="95250" marT="57150" marB="57150">
                    <a:solidFill>
                      <a:srgbClr val="FFFFFF"/>
                    </a:solidFill>
                  </a:tcPr>
                </a:tc>
              </a:tr>
              <a:tr h="485775">
                <a:tc>
                  <a:txBody>
                    <a:bodyPr>
                      <a:noAutofit/>
                    </a:bodyPr>
                    <a:lstStyle/>
                    <a:p>
                      <a:r>
                        <a:rPr sz="1950" b="0">
                          <a:solidFill>
                            <a:srgbClr val="20394C"/>
                          </a:solidFill>
                          <a:latin typeface="DejaVu Sans"/>
                          <a:ea typeface="DejaVu Sans"/>
                          <a:cs typeface="DejaVu Sans"/>
                        </a:rPr>
                        <a:t>Stack tables with the same row unit</a:t>
                      </a:r>
                    </a:p>
                  </a:txBody>
                  <a:tcPr marL="95250" marR="95250" marT="57150" marB="57150">
                    <a:solidFill>
                      <a:srgbClr val="F2F6F9"/>
                    </a:solidFill>
                  </a:tcPr>
                </a:tc>
                <a:tc>
                  <a:txBody>
                    <a:bodyPr>
                      <a:noAutofit/>
                    </a:bodyPr>
                    <a:lstStyle/>
                    <a:p>
                      <a:r>
                        <a:rPr sz="1950" b="0">
                          <a:solidFill>
                            <a:srgbClr val="20394C"/>
                          </a:solidFill>
                          <a:latin typeface="DejaVu Sans"/>
                          <a:ea typeface="DejaVu Sans"/>
                          <a:cs typeface="DejaVu Sans"/>
                        </a:rPr>
                        <a:t>pd.concat([april, october], ignore_index=True)</a:t>
                      </a:r>
                    </a:p>
                  </a:txBody>
                  <a:tcPr marL="95250" marR="95250" marT="57150" marB="57150">
                    <a:solidFill>
                      <a:srgbClr val="F2F6F9"/>
                    </a:solidFill>
                  </a:tcPr>
                </a:tc>
              </a:tr>
            </a:tbl>
          </a:graphicData>
        </a:graphic>
      </p:graphicFrame>
      <p:sp>
        <p:nvSpPr>
          <p:cNvPr id="3" name="">
            <a:extLst xmlns:a="http://schemas.openxmlformats.org/drawingml/2006/main">
              <a:ext uri="{FF2B5EF4-FFF2-40B4-BE49-F238E27FC236}">
                <a16:creationId xmlns:a16="http://schemas.microsoft.com/office/drawing/2014/main" id="{0603B5A1-094E-458B-BB7B-AAA420FBB01D}"/>
              </a:ext>
            </a:extLst>
          </p:cNvPr>
          <p:cNvSpPr>
            <a:spLocks xmlns:a="http://schemas.openxmlformats.org/drawingml/2006/main" noGrp="1"/>
          </p:cNvSpPr>
          <p:nvPr/>
        </p:nvSpPr>
        <p:spPr>
          <a:xfrm xmlns:a="http://schemas.openxmlformats.org/drawingml/2006/main">
            <a:off x="838200" y="3209925"/>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A join matches records. Concatenation stacks the rows supplied to it.</a:t>
            </a:r>
          </a:p>
        </p:txBody>
      </p:sp>
      <p:sp>
        <p:nvSpPr>
          <p:cNvPr id="4" name="">
            <a:extLst xmlns:a="http://schemas.openxmlformats.org/drawingml/2006/main">
              <a:ext uri="{FF2B5EF4-FFF2-40B4-BE49-F238E27FC236}">
                <a16:creationId xmlns:a16="http://schemas.microsoft.com/office/drawing/2014/main" id="{77217A90-7C69-4E93-A24A-75D4EC8163DE}"/>
              </a:ext>
            </a:extLst>
          </p:cNvPr>
          <p:cNvSpPr>
            <a:spLocks xmlns:a="http://schemas.openxmlformats.org/drawingml/2006/main" noGrp="1"/>
          </p:cNvSpPr>
          <p:nvPr/>
        </p:nvSpPr>
        <p:spPr>
          <a:xfrm xmlns:a="http://schemas.openxmlformats.org/drawingml/2006/main">
            <a:off x="838200" y="3905250"/>
            <a:ext cx="1356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394C"/>
                </a:solidFill>
                <a:latin typeface="DejaVu Sans"/>
                <a:ea typeface="DejaVu Sans"/>
                <a:cs typeface="DejaVu Sans"/>
              </a:defRPr>
            </a:pPr>
            <a:r>
              <a:rPr sz="2550" b="0">
                <a:solidFill>
                  <a:srgbClr val="20394C"/>
                </a:solidFill>
                <a:latin typeface="DejaVu Sans"/>
                <a:ea typeface="DejaVu Sans"/>
                <a:cs typeface="DejaVu Sans"/>
              </a:rPr>
              <a:t>Before either operation, decide what one resulting row should represent.</a:t>
            </a:r>
          </a:p>
        </p:txBody>
      </p:sp>
      <p:sp>
        <p:nvSpPr>
          <p:cNvPr id="5" name="">
            <a:extLst xmlns:a="http://schemas.openxmlformats.org/drawingml/2006/main">
              <a:ext uri="{FF2B5EF4-FFF2-40B4-BE49-F238E27FC236}">
                <a16:creationId xmlns:a16="http://schemas.microsoft.com/office/drawing/2014/main" id="{42F70AFB-9F3B-4C45-BA75-2776461D79F9}"/>
              </a:ext>
            </a:extLst>
          </p:cNvPr>
          <p:cNvSpPr>
            <a:spLocks xmlns:a="http://schemas.openxmlformats.org/drawingml/2006/main" noGrp="1"/>
          </p:cNvSpPr>
          <p:nvPr/>
        </p:nvSpPr>
        <p:spPr>
          <a:xfrm xmlns:a="http://schemas.openxmlformats.org/drawingml/2006/main">
            <a:off x="12954000" y="80962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97083"/>
                </a:solidFill>
                <a:latin typeface="DejaVu Sans"/>
                <a:ea typeface="DejaVu Sans"/>
                <a:cs typeface="DejaVu Sans"/>
              </a:defRPr>
            </a:pPr>
            <a:r>
              <a:rPr sz="1500" b="0">
                <a:solidFill>
                  <a:srgbClr val="597083"/>
                </a:solidFill>
                <a:latin typeface="DejaVu Sans"/>
                <a:ea typeface="DejaVu Sans"/>
                <a:cs typeface="DejaVu Sans"/>
              </a:rPr>
              <a:t>35 / 35</a:t>
            </a:r>
          </a:p>
        </p:txBody>
      </p:sp>
    </p:spTree>
    <p:extLst>
      <p:ext uri="{BB962C8B-B14F-4D97-AF65-F5344CB8AC3E}">
        <p14:creationId xmlns:p14="http://schemas.microsoft.com/office/powerpoint/2010/main" val="1959114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2026-10-07T14:35:41.3360000Z</dcterms:created>
  <dcterms:modified xsi:type="dcterms:W3CDTF">2026-10-07T14:35:41.3360000Z</dcterms:modified>
</coreProperties>
</file>